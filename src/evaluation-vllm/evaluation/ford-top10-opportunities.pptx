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200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058400" cy="914400"/>
          </a:xfrm>
          <a:prstGeom prst="rect">
            <a:avLst/>
          </a:prstGeom>
          <a:noFill/>
        </p:spPr>
        <p:txBody>
          <a:bodyPr wrap="square">
            <a:spAutoFit/>
          </a:bodyPr>
          <a:lstStyle/>
          <a:p>
            <a:pPr algn="l">
              <a:defRPr sz="4200" b="1">
                <a:solidFill>
                  <a:srgbClr val="FFFFFF"/>
                </a:solidFill>
                <a:latin typeface="Calibri"/>
              </a:defRPr>
            </a:pPr>
            <a:r>
              <a:t>Ford Motor Company</a:t>
            </a:r>
          </a:p>
        </p:txBody>
      </p:sp>
      <p:sp>
        <p:nvSpPr>
          <p:cNvPr id="4" name="TextBox 3"/>
          <p:cNvSpPr txBox="1"/>
          <p:nvPr/>
        </p:nvSpPr>
        <p:spPr>
          <a:xfrm>
            <a:off x="914400" y="1554480"/>
            <a:ext cx="10058400" cy="731520"/>
          </a:xfrm>
          <a:prstGeom prst="rect">
            <a:avLst/>
          </a:prstGeom>
          <a:noFill/>
        </p:spPr>
        <p:txBody>
          <a:bodyPr wrap="square">
            <a:spAutoFit/>
          </a:bodyPr>
          <a:lstStyle/>
          <a:p>
            <a:pPr algn="l">
              <a:defRPr sz="3200" b="0">
                <a:solidFill>
                  <a:srgbClr val="A0C4E8"/>
                </a:solidFill>
                <a:latin typeface="Calibri"/>
              </a:defRPr>
            </a:pPr>
            <a:r>
              <a:t>Top 10 AI Skill Opportunities</a:t>
            </a:r>
          </a:p>
        </p:txBody>
      </p:sp>
      <p:sp>
        <p:nvSpPr>
          <p:cNvPr id="5" name="TextBox 4"/>
          <p:cNvSpPr txBox="1"/>
          <p:nvPr/>
        </p:nvSpPr>
        <p:spPr>
          <a:xfrm>
            <a:off x="914400" y="2286000"/>
            <a:ext cx="10058400" cy="548640"/>
          </a:xfrm>
          <a:prstGeom prst="rect">
            <a:avLst/>
          </a:prstGeom>
          <a:noFill/>
        </p:spPr>
        <p:txBody>
          <a:bodyPr wrap="square">
            <a:spAutoFit/>
          </a:bodyPr>
          <a:lstStyle/>
          <a:p>
            <a:pPr algn="l">
              <a:defRPr sz="2000" b="0">
                <a:solidFill>
                  <a:srgbClr val="CCDDEE"/>
                </a:solidFill>
                <a:latin typeface="Calibri"/>
              </a:defRPr>
            </a:pPr>
            <a:r>
              <a:t>Aera Skill Feasibility Assessment</a:t>
            </a:r>
          </a:p>
        </p:txBody>
      </p:sp>
      <p:sp>
        <p:nvSpPr>
          <p:cNvPr id="6" name="Rectangle 5"/>
          <p:cNvSpPr/>
          <p:nvPr/>
        </p:nvSpPr>
        <p:spPr>
          <a:xfrm>
            <a:off x="0" y="3200400"/>
            <a:ext cx="12191695" cy="640080"/>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46120"/>
            <a:ext cx="10058400" cy="457200"/>
          </a:xfrm>
          <a:prstGeom prst="rect">
            <a:avLst/>
          </a:prstGeom>
          <a:noFill/>
        </p:spPr>
        <p:txBody>
          <a:bodyPr wrap="square">
            <a:spAutoFit/>
          </a:bodyPr>
          <a:lstStyle/>
          <a:p>
            <a:pPr algn="l">
              <a:defRPr sz="1800" b="1">
                <a:solidFill>
                  <a:srgbClr val="FFFFFF"/>
                </a:solidFill>
                <a:latin typeface="Calibri"/>
              </a:defRPr>
            </a:pPr>
            <a:r>
              <a:t>336 Evaluated  |  178 Promoted  |  146 Simulated  |  ~$2.4B Combined Value</a:t>
            </a:r>
          </a:p>
        </p:txBody>
      </p:sp>
      <p:sp>
        <p:nvSpPr>
          <p:cNvPr id="8" name="TextBox 7"/>
          <p:cNvSpPr txBox="1"/>
          <p:nvPr/>
        </p:nvSpPr>
        <p:spPr>
          <a:xfrm>
            <a:off x="914400" y="4389120"/>
            <a:ext cx="10058400" cy="457200"/>
          </a:xfrm>
          <a:prstGeom prst="rect">
            <a:avLst/>
          </a:prstGeom>
          <a:noFill/>
        </p:spPr>
        <p:txBody>
          <a:bodyPr wrap="square">
            <a:spAutoFit/>
          </a:bodyPr>
          <a:lstStyle/>
          <a:p>
            <a:pPr algn="l">
              <a:defRPr sz="1600" b="0">
                <a:solidFill>
                  <a:srgbClr val="333333"/>
                </a:solidFill>
                <a:latin typeface="Calibri"/>
              </a:defRPr>
            </a:pPr>
            <a:r>
              <a:t>March 2026</a:t>
            </a:r>
          </a:p>
        </p:txBody>
      </p:sp>
      <p:sp>
        <p:nvSpPr>
          <p:cNvPr id="9" name="TextBox 8"/>
          <p:cNvSpPr txBox="1"/>
          <p:nvPr/>
        </p:nvSpPr>
        <p:spPr>
          <a:xfrm>
            <a:off x="914400" y="4846320"/>
            <a:ext cx="10058400" cy="365760"/>
          </a:xfrm>
          <a:prstGeom prst="rect">
            <a:avLst/>
          </a:prstGeom>
          <a:noFill/>
        </p:spPr>
        <p:txBody>
          <a:bodyPr wrap="square">
            <a:spAutoFit/>
          </a:bodyPr>
          <a:lstStyle/>
          <a:p>
            <a:pPr algn="l">
              <a:defRPr sz="1100" b="0">
                <a:solidFill>
                  <a:srgbClr val="BBBBBB"/>
                </a:solidFill>
                <a:latin typeface="Calibri"/>
              </a:defRPr>
            </a:pPr>
            <a:r>
              <a:t>Aera Skill Feasibility Engine v1.2  |  vLLM on RunPod H100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Executive Summary</a:t>
            </a:r>
          </a:p>
        </p:txBody>
      </p:sp>
      <p:sp>
        <p:nvSpPr>
          <p:cNvPr id="3" name="TextBox 2"/>
          <p:cNvSpPr txBox="1"/>
          <p:nvPr/>
        </p:nvSpPr>
        <p:spPr>
          <a:xfrm>
            <a:off x="457200" y="822960"/>
            <a:ext cx="5486400" cy="365760"/>
          </a:xfrm>
          <a:prstGeom prst="rect">
            <a:avLst/>
          </a:prstGeom>
          <a:noFill/>
        </p:spPr>
        <p:txBody>
          <a:bodyPr wrap="square">
            <a:spAutoFit/>
          </a:bodyPr>
          <a:lstStyle/>
          <a:p>
            <a:pPr algn="l">
              <a:defRPr sz="1800" b="1">
                <a:solidFill>
                  <a:srgbClr val="003366"/>
                </a:solidFill>
                <a:latin typeface="Calibri"/>
              </a:defRPr>
            </a:pPr>
            <a:r>
              <a:t>Three-Lens Scoring</a:t>
            </a:r>
          </a:p>
        </p:txBody>
      </p:sp>
      <p:sp>
        <p:nvSpPr>
          <p:cNvPr id="4" name="TextBox 3"/>
          <p:cNvSpPr txBox="1"/>
          <p:nvPr/>
        </p:nvSpPr>
        <p:spPr>
          <a:xfrm>
            <a:off x="457200" y="1280160"/>
            <a:ext cx="5486400" cy="2286000"/>
          </a:xfrm>
          <a:prstGeom prst="rect">
            <a:avLst/>
          </a:prstGeom>
          <a:noFill/>
        </p:spPr>
        <p:txBody>
          <a:bodyPr wrap="square">
            <a:spAutoFit/>
          </a:bodyPr>
          <a:lstStyle/>
          <a:p>
            <a:pPr>
              <a:spcAft>
                <a:spcPts val="200"/>
              </a:spcAft>
              <a:defRPr sz="1100">
                <a:solidFill>
                  <a:srgbClr val="333333"/>
                </a:solidFill>
                <a:latin typeface="Calibri"/>
              </a:defRPr>
            </a:pPr>
            <a:r>
              <a:t>Technical Feasibility (30%) -- Data readiness, platform fit, archetype confidence</a:t>
            </a:r>
          </a:p>
          <a:p>
            <a:pPr>
              <a:spcAft>
                <a:spcPts val="200"/>
              </a:spcAft>
              <a:defRPr sz="1100">
                <a:solidFill>
                  <a:srgbClr val="333333"/>
                </a:solidFill>
                <a:latin typeface="Calibri"/>
              </a:defRPr>
            </a:pPr>
            <a:r>
              <a:t>Adoption Realism (45%) -- Decision density, financial gravity, impact proximity, confidence</a:t>
            </a:r>
          </a:p>
          <a:p>
            <a:pPr>
              <a:spcAft>
                <a:spcPts val="200"/>
              </a:spcAft>
              <a:defRPr sz="1100">
                <a:solidFill>
                  <a:srgbClr val="333333"/>
                </a:solidFill>
                <a:latin typeface="Calibri"/>
              </a:defRPr>
            </a:pPr>
            <a:r>
              <a:t>Value &amp; Efficiency (25%) -- Value density, simulation viability</a:t>
            </a:r>
          </a:p>
          <a:p>
            <a:pPr>
              <a:spcAft>
                <a:spcPts val="200"/>
              </a:spcAft>
              <a:defRPr sz="1100">
                <a:solidFill>
                  <a:srgbClr val="333333"/>
                </a:solidFill>
                <a:latin typeface="Calibri"/>
              </a:defRPr>
            </a:pPr>
          </a:p>
          <a:p>
            <a:pPr>
              <a:spcAft>
                <a:spcPts val="200"/>
              </a:spcAft>
              <a:defRPr sz="1100">
                <a:solidFill>
                  <a:srgbClr val="333333"/>
                </a:solidFill>
                <a:latin typeface="Calibri"/>
              </a:defRPr>
            </a:pPr>
            <a:r>
              <a:t>Composite = (tech/9 x 0.30) + (adoption/12 x 0.45) + (value/6 x 0.25)</a:t>
            </a:r>
          </a:p>
          <a:p>
            <a:pPr>
              <a:spcAft>
                <a:spcPts val="200"/>
              </a:spcAft>
              <a:defRPr sz="1100">
                <a:solidFill>
                  <a:srgbClr val="333333"/>
                </a:solidFill>
                <a:latin typeface="Calibri"/>
              </a:defRPr>
            </a:pPr>
            <a:r>
              <a:t>Simulation threshold: composite &gt;= 0.60</a:t>
            </a:r>
          </a:p>
        </p:txBody>
      </p:sp>
      <p:sp>
        <p:nvSpPr>
          <p:cNvPr id="5" name="Rounded Rectangle 4"/>
          <p:cNvSpPr/>
          <p:nvPr/>
        </p:nvSpPr>
        <p:spPr>
          <a:xfrm>
            <a:off x="6400800" y="822960"/>
            <a:ext cx="5303520" cy="2743200"/>
          </a:xfrm>
          <a:prstGeom prst="roundRect">
            <a:avLst/>
          </a:prstGeom>
          <a:solidFill>
            <a:srgbClr val="F0F4FA"/>
          </a:solidFill>
          <a:ln w="12700">
            <a:solidFill>
              <a:srgbClr val="005A9E"/>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600" b="1">
                <a:solidFill>
                  <a:srgbClr val="003366"/>
                </a:solidFill>
              </a:defRPr>
            </a:pPr>
            <a:r>
              <a:t>Pipeline Results</a:t>
            </a:r>
          </a:p>
          <a:p>
            <a:pPr>
              <a:spcBef>
                <a:spcPts val="300"/>
              </a:spcBef>
              <a:defRPr sz="1100">
                <a:solidFill>
                  <a:srgbClr val="333333"/>
                </a:solidFill>
              </a:defRPr>
            </a:pPr>
            <a:r>
              <a:t>  336 total opportunities evaluated across Ford hierarchy</a:t>
            </a:r>
          </a:p>
          <a:p>
            <a:pPr>
              <a:spcBef>
                <a:spcPts val="300"/>
              </a:spcBef>
              <a:defRPr sz="1100">
                <a:solidFill>
                  <a:srgbClr val="333333"/>
                </a:solidFill>
              </a:defRPr>
            </a:pPr>
            <a:r>
              <a:t>  178 promoted to simulation (53%)</a:t>
            </a:r>
          </a:p>
          <a:p>
            <a:pPr>
              <a:spcBef>
                <a:spcPts val="300"/>
              </a:spcBef>
              <a:defRPr sz="1100">
                <a:solidFill>
                  <a:srgbClr val="333333"/>
                </a:solidFill>
              </a:defRPr>
            </a:pPr>
            <a:r>
              <a:t>  146 simulations completed with full artifact generation</a:t>
            </a:r>
          </a:p>
          <a:p>
            <a:pPr>
              <a:spcBef>
                <a:spcPts val="300"/>
              </a:spcBef>
              <a:defRPr sz="1100">
                <a:solidFill>
                  <a:srgbClr val="333333"/>
                </a:solidFill>
              </a:defRPr>
            </a:pPr>
            <a:r>
              <a:t>  Top 10: all &gt;= 0.82 composite, all HIGH confidence</a:t>
            </a:r>
          </a:p>
          <a:p>
            <a:pPr>
              <a:spcBef>
                <a:spcPts val="300"/>
              </a:spcBef>
              <a:defRPr sz="1100">
                <a:solidFill>
                  <a:srgbClr val="333333"/>
                </a:solidFill>
              </a:defRPr>
            </a:pPr>
            <a:r>
              <a:t>  Combined max value of top 10: ~$2.4B</a:t>
            </a:r>
          </a:p>
          <a:p>
            <a:pPr>
              <a:spcBef>
                <a:spcPts val="300"/>
              </a:spcBef>
              <a:defRPr sz="1100">
                <a:solidFill>
                  <a:srgbClr val="333333"/>
                </a:solidFill>
              </a:defRPr>
            </a:pPr>
            <a:r>
              <a:t>  Tier 1: 39 | Tier 2: 103 | Tier 3: 220</a:t>
            </a:r>
          </a:p>
          <a:p>
            <a:pPr>
              <a:spcBef>
                <a:spcPts val="300"/>
              </a:spcBef>
              <a:defRPr sz="1100">
                <a:solidFill>
                  <a:srgbClr val="333333"/>
                </a:solidFill>
              </a:defRPr>
            </a:pPr>
            <a:r>
              <a:t>  DETERMINISTIC: 57% | AGENTIC: 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Top 10 Opportunities</a:t>
            </a:r>
          </a:p>
        </p:txBody>
      </p:sp>
      <p:graphicFrame>
        <p:nvGraphicFramePr>
          <p:cNvPr id="3" name="Table 2"/>
          <p:cNvGraphicFramePr>
            <a:graphicFrameLocks noGrp="1"/>
          </p:cNvGraphicFramePr>
          <p:nvPr/>
        </p:nvGraphicFramePr>
        <p:xfrm>
          <a:off x="182880" y="822960"/>
          <a:ext cx="11795760" cy="5486400"/>
        </p:xfrm>
        <a:graphic>
          <a:graphicData uri="http://schemas.openxmlformats.org/drawingml/2006/table">
            <a:tbl>
              <a:tblPr firstRow="1" bandRow="1">
                <a:tableStyleId>{5C22544A-7EE6-4342-B048-85BDC9FD1C3A}</a:tableStyleId>
              </a:tblPr>
              <a:tblGrid>
                <a:gridCol w="457200"/>
                <a:gridCol w="3200400"/>
                <a:gridCol w="1463040"/>
                <a:gridCol w="1097280"/>
                <a:gridCol w="1188720"/>
                <a:gridCol w="1371600"/>
                <a:gridCol w="3017520"/>
              </a:tblGrid>
              <a:tr h="498763">
                <a:tc>
                  <a:txBody>
                    <a:bodyPr/>
                    <a:lstStyle/>
                    <a:p>
                      <a:pPr algn="ctr">
                        <a:defRPr sz="900" b="1">
                          <a:solidFill>
                            <a:srgbClr val="FFFFFF"/>
                          </a:solidFill>
                        </a:defRPr>
                      </a:pPr>
                      <a:r>
                        <a:t>#</a:t>
                      </a:r>
                    </a:p>
                  </a:txBody>
                  <a:tcPr>
                    <a:solidFill>
                      <a:srgbClr val="003366"/>
                    </a:solidFill>
                  </a:tcPr>
                </a:tc>
                <a:tc>
                  <a:txBody>
                    <a:bodyPr/>
                    <a:lstStyle/>
                    <a:p>
                      <a:pPr algn="ctr">
                        <a:defRPr sz="900" b="1">
                          <a:solidFill>
                            <a:srgbClr val="FFFFFF"/>
                          </a:solidFill>
                        </a:defRPr>
                      </a:pPr>
                      <a:r>
                        <a:t>Skill / Use Case</a:t>
                      </a:r>
                    </a:p>
                  </a:txBody>
                  <a:tcPr>
                    <a:solidFill>
                      <a:srgbClr val="003366"/>
                    </a:solidFill>
                  </a:tcPr>
                </a:tc>
                <a:tc>
                  <a:txBody>
                    <a:bodyPr/>
                    <a:lstStyle/>
                    <a:p>
                      <a:pPr algn="ctr">
                        <a:defRPr sz="900" b="1">
                          <a:solidFill>
                            <a:srgbClr val="FFFFFF"/>
                          </a:solidFill>
                        </a:defRPr>
                      </a:pPr>
                      <a:r>
                        <a:t>Domain</a:t>
                      </a:r>
                    </a:p>
                  </a:txBody>
                  <a:tcPr>
                    <a:solidFill>
                      <a:srgbClr val="003366"/>
                    </a:solidFill>
                  </a:tcPr>
                </a:tc>
                <a:tc>
                  <a:txBody>
                    <a:bodyPr/>
                    <a:lstStyle/>
                    <a:p>
                      <a:pPr algn="ctr">
                        <a:defRPr sz="900" b="1">
                          <a:solidFill>
                            <a:srgbClr val="FFFFFF"/>
                          </a:solidFill>
                        </a:defRPr>
                      </a:pPr>
                      <a:r>
                        <a:t>Score</a:t>
                      </a:r>
                    </a:p>
                  </a:txBody>
                  <a:tcPr>
                    <a:solidFill>
                      <a:srgbClr val="003366"/>
                    </a:solidFill>
                  </a:tcPr>
                </a:tc>
                <a:tc>
                  <a:txBody>
                    <a:bodyPr/>
                    <a:lstStyle/>
                    <a:p>
                      <a:pPr algn="ctr">
                        <a:defRPr sz="900" b="1">
                          <a:solidFill>
                            <a:srgbClr val="FFFFFF"/>
                          </a:solidFill>
                        </a:defRPr>
                      </a:pPr>
                      <a:r>
                        <a:t>Max Value</a:t>
                      </a:r>
                    </a:p>
                  </a:txBody>
                  <a:tcPr>
                    <a:solidFill>
                      <a:srgbClr val="003366"/>
                    </a:solidFill>
                  </a:tcPr>
                </a:tc>
                <a:tc>
                  <a:txBody>
                    <a:bodyPr/>
                    <a:lstStyle/>
                    <a:p>
                      <a:pPr algn="ctr">
                        <a:defRPr sz="900" b="1">
                          <a:solidFill>
                            <a:srgbClr val="FFFFFF"/>
                          </a:solidFill>
                        </a:defRPr>
                      </a:pPr>
                      <a:r>
                        <a:t>Complexity</a:t>
                      </a:r>
                    </a:p>
                  </a:txBody>
                  <a:tcPr>
                    <a:solidFill>
                      <a:srgbClr val="003366"/>
                    </a:solidFill>
                  </a:tcPr>
                </a:tc>
                <a:tc>
                  <a:txBody>
                    <a:bodyPr/>
                    <a:lstStyle/>
                    <a:p>
                      <a:pPr algn="ctr">
                        <a:defRPr sz="900" b="1">
                          <a:solidFill>
                            <a:srgbClr val="FFFFFF"/>
                          </a:solidFill>
                        </a:defRPr>
                      </a:pPr>
                      <a:r>
                        <a:t>Problem (excerpt)</a:t>
                      </a:r>
                    </a:p>
                  </a:txBody>
                  <a:tcPr>
                    <a:solidFill>
                      <a:srgbClr val="003366"/>
                    </a:solidFill>
                  </a:tcPr>
                </a:tc>
              </a:tr>
              <a:tr h="498763">
                <a:tc>
                  <a:txBody>
                    <a:bodyPr/>
                    <a:lstStyle/>
                    <a:p>
                      <a:pPr algn="ctr">
                        <a:defRPr sz="800">
                          <a:solidFill>
                            <a:srgbClr val="333333"/>
                          </a:solidFill>
                        </a:defRPr>
                      </a:pPr>
                      <a:r>
                        <a:t>1</a:t>
                      </a:r>
                    </a:p>
                  </a:txBody>
                  <a:tcPr>
                    <a:solidFill>
                      <a:srgbClr val="C6EFCE"/>
                    </a:solidFill>
                  </a:tcPr>
                </a:tc>
                <a:tc>
                  <a:txBody>
                    <a:bodyPr/>
                    <a:lstStyle/>
                    <a:p>
                      <a:pPr>
                        <a:defRPr sz="800">
                          <a:solidFill>
                            <a:srgbClr val="333333"/>
                          </a:solidFill>
                        </a:defRPr>
                      </a:pPr>
                      <a:r>
                        <a:t>Autonomous Demand-Driven Volume &amp; Mix Orchestration Engine</a:t>
                      </a:r>
                    </a:p>
                  </a:txBody>
                  <a:tcPr>
                    <a:solidFill>
                      <a:srgbClr val="C6EFCE"/>
                    </a:solidFill>
                  </a:tcPr>
                </a:tc>
                <a:tc>
                  <a:txBody>
                    <a:bodyPr/>
                    <a:lstStyle/>
                    <a:p>
                      <a:pPr>
                        <a:defRPr sz="800">
                          <a:solidFill>
                            <a:srgbClr val="333333"/>
                          </a:solidFill>
                        </a:defRPr>
                      </a:pPr>
                      <a:r>
                        <a:t>Plan</a:t>
                      </a:r>
                    </a:p>
                  </a:txBody>
                  <a:tcPr>
                    <a:solidFill>
                      <a:srgbClr val="C6EFCE"/>
                    </a:solidFill>
                  </a:tcPr>
                </a:tc>
                <a:tc>
                  <a:txBody>
                    <a:bodyPr/>
                    <a:lstStyle/>
                    <a:p>
                      <a:pPr algn="ctr">
                        <a:defRPr sz="800" b="1">
                          <a:solidFill>
                            <a:srgbClr val="003366"/>
                          </a:solidFill>
                        </a:defRPr>
                      </a:pPr>
                      <a:r>
                        <a:t>0.88</a:t>
                      </a:r>
                    </a:p>
                  </a:txBody>
                  <a:tcPr>
                    <a:solidFill>
                      <a:srgbClr val="C6EFCE"/>
                    </a:solidFill>
                  </a:tcPr>
                </a:tc>
                <a:tc>
                  <a:txBody>
                    <a:bodyPr/>
                    <a:lstStyle/>
                    <a:p>
                      <a:pPr algn="ctr">
                        <a:defRPr sz="800">
                          <a:solidFill>
                            <a:srgbClr val="333333"/>
                          </a:solidFill>
                        </a:defRPr>
                      </a:pPr>
                      <a:r>
                        <a:t>$21M</a:t>
                      </a:r>
                    </a:p>
                  </a:txBody>
                  <a:tcPr>
                    <a:solidFill>
                      <a:srgbClr val="C6EFCE"/>
                    </a:solidFill>
                  </a:tcPr>
                </a:tc>
                <a:tc>
                  <a:txBody>
                    <a:bodyPr/>
                    <a:lstStyle/>
                    <a:p>
                      <a:pPr algn="ctr">
                        <a:defRPr sz="800">
                          <a:solidFill>
                            <a:srgbClr val="333333"/>
                          </a:solidFill>
                        </a:defRPr>
                      </a:pPr>
                      <a:r>
                        <a:t>HIGH</a:t>
                      </a:r>
                    </a:p>
                  </a:txBody>
                  <a:tcPr>
                    <a:solidFill>
                      <a:srgbClr val="C6EFCE"/>
                    </a:solidFill>
                  </a:tcPr>
                </a:tc>
                <a:tc>
                  <a:txBody>
                    <a:bodyPr/>
                    <a:lstStyle/>
                    <a:p>
                      <a:pPr>
                        <a:defRPr sz="800">
                          <a:solidFill>
                            <a:srgbClr val="333333"/>
                          </a:solidFill>
                        </a:defRPr>
                      </a:pPr>
                      <a:r>
                        <a:t>A coherent DI opportunity exists across multiple demand-focused L4 processes to automate end-to-end demand forecasting, ...</a:t>
                      </a:r>
                    </a:p>
                  </a:txBody>
                  <a:tcPr>
                    <a:solidFill>
                      <a:srgbClr val="C6EFCE"/>
                    </a:solidFill>
                  </a:tcPr>
                </a:tc>
              </a:tr>
              <a:tr h="498763">
                <a:tc>
                  <a:txBody>
                    <a:bodyPr/>
                    <a:lstStyle/>
                    <a:p>
                      <a:pPr algn="ctr">
                        <a:defRPr sz="800">
                          <a:solidFill>
                            <a:srgbClr val="333333"/>
                          </a:solidFill>
                        </a:defRPr>
                      </a:pPr>
                      <a:r>
                        <a:t>2</a:t>
                      </a:r>
                    </a:p>
                  </a:txBody>
                  <a:tcPr>
                    <a:solidFill>
                      <a:srgbClr val="C6EFCE"/>
                    </a:solidFill>
                  </a:tcPr>
                </a:tc>
                <a:tc>
                  <a:txBody>
                    <a:bodyPr/>
                    <a:lstStyle/>
                    <a:p>
                      <a:pPr>
                        <a:defRPr sz="800">
                          <a:solidFill>
                            <a:srgbClr val="333333"/>
                          </a:solidFill>
                        </a:defRPr>
                      </a:pPr>
                      <a:r>
                        <a:t>Autonomous Multi-Echelon Inventory &amp; Slotting Optimization</a:t>
                      </a:r>
                    </a:p>
                  </a:txBody>
                  <a:tcPr>
                    <a:solidFill>
                      <a:srgbClr val="C6EFCE"/>
                    </a:solidFill>
                  </a:tcPr>
                </a:tc>
                <a:tc>
                  <a:txBody>
                    <a:bodyPr/>
                    <a:lstStyle/>
                    <a:p>
                      <a:pPr>
                        <a:defRPr sz="800">
                          <a:solidFill>
                            <a:srgbClr val="333333"/>
                          </a:solidFill>
                        </a:defRPr>
                      </a:pPr>
                      <a:r>
                        <a:t>Move &amp; Fulfill</a:t>
                      </a:r>
                    </a:p>
                  </a:txBody>
                  <a:tcPr>
                    <a:solidFill>
                      <a:srgbClr val="C6EFCE"/>
                    </a:solidFill>
                  </a:tcPr>
                </a:tc>
                <a:tc>
                  <a:txBody>
                    <a:bodyPr/>
                    <a:lstStyle/>
                    <a:p>
                      <a:pPr algn="ctr">
                        <a:defRPr sz="800" b="1">
                          <a:solidFill>
                            <a:srgbClr val="003366"/>
                          </a:solidFill>
                        </a:defRPr>
                      </a:pPr>
                      <a:r>
                        <a:t>0.88</a:t>
                      </a:r>
                    </a:p>
                  </a:txBody>
                  <a:tcPr>
                    <a:solidFill>
                      <a:srgbClr val="C6EFCE"/>
                    </a:solidFill>
                  </a:tcPr>
                </a:tc>
                <a:tc>
                  <a:txBody>
                    <a:bodyPr/>
                    <a:lstStyle/>
                    <a:p>
                      <a:pPr algn="ctr">
                        <a:defRPr sz="800">
                          <a:solidFill>
                            <a:srgbClr val="333333"/>
                          </a:solidFill>
                        </a:defRPr>
                      </a:pPr>
                      <a:r>
                        <a:t>$14M</a:t>
                      </a:r>
                    </a:p>
                  </a:txBody>
                  <a:tcPr>
                    <a:solidFill>
                      <a:srgbClr val="C6EFCE"/>
                    </a:solidFill>
                  </a:tcPr>
                </a:tc>
                <a:tc>
                  <a:txBody>
                    <a:bodyPr/>
                    <a:lstStyle/>
                    <a:p>
                      <a:pPr algn="ctr">
                        <a:defRPr sz="800">
                          <a:solidFill>
                            <a:srgbClr val="333333"/>
                          </a:solidFill>
                        </a:defRPr>
                      </a:pPr>
                      <a:r>
                        <a:t>MEDIUM</a:t>
                      </a:r>
                    </a:p>
                  </a:txBody>
                  <a:tcPr>
                    <a:solidFill>
                      <a:srgbClr val="C6EFCE"/>
                    </a:solidFill>
                  </a:tcPr>
                </a:tc>
                <a:tc>
                  <a:txBody>
                    <a:bodyPr/>
                    <a:lstStyle/>
                    <a:p>
                      <a:pPr>
                        <a:defRPr sz="800">
                          <a:solidFill>
                            <a:srgbClr val="333333"/>
                          </a:solidFill>
                        </a:defRPr>
                      </a:pPr>
                      <a:r>
                        <a:t>A coherent DI opportunity across five L4 processes to autonomously rebalance stock, maintain tight cycle counts, discard...</a:t>
                      </a:r>
                    </a:p>
                  </a:txBody>
                  <a:tcPr>
                    <a:solidFill>
                      <a:srgbClr val="C6EFCE"/>
                    </a:solidFill>
                  </a:tcPr>
                </a:tc>
              </a:tr>
              <a:tr h="498763">
                <a:tc>
                  <a:txBody>
                    <a:bodyPr/>
                    <a:lstStyle/>
                    <a:p>
                      <a:pPr algn="ctr">
                        <a:defRPr sz="800">
                          <a:solidFill>
                            <a:srgbClr val="333333"/>
                          </a:solidFill>
                        </a:defRPr>
                      </a:pPr>
                      <a:r>
                        <a:t>3</a:t>
                      </a:r>
                    </a:p>
                  </a:txBody>
                  <a:tcPr>
                    <a:solidFill>
                      <a:srgbClr val="C6EFCE"/>
                    </a:solidFill>
                  </a:tcPr>
                </a:tc>
                <a:tc>
                  <a:txBody>
                    <a:bodyPr/>
                    <a:lstStyle/>
                    <a:p>
                      <a:pPr>
                        <a:defRPr sz="800">
                          <a:solidFill>
                            <a:srgbClr val="333333"/>
                          </a:solidFill>
                        </a:defRPr>
                      </a:pPr>
                      <a:r>
                        <a:t>Autonomous MRP-Driven Production &amp; Supply Alignment Engine</a:t>
                      </a:r>
                    </a:p>
                  </a:txBody>
                  <a:tcPr>
                    <a:solidFill>
                      <a:srgbClr val="C6EFCE"/>
                    </a:solidFill>
                  </a:tcPr>
                </a:tc>
                <a:tc>
                  <a:txBody>
                    <a:bodyPr/>
                    <a:lstStyle/>
                    <a:p>
                      <a:pPr>
                        <a:defRPr sz="800">
                          <a:solidFill>
                            <a:srgbClr val="333333"/>
                          </a:solidFill>
                        </a:defRPr>
                      </a:pPr>
                      <a:r>
                        <a:t>Plan</a:t>
                      </a:r>
                    </a:p>
                  </a:txBody>
                  <a:tcPr>
                    <a:solidFill>
                      <a:srgbClr val="C6EFCE"/>
                    </a:solidFill>
                  </a:tcPr>
                </a:tc>
                <a:tc>
                  <a:txBody>
                    <a:bodyPr/>
                    <a:lstStyle/>
                    <a:p>
                      <a:pPr algn="ctr">
                        <a:defRPr sz="800" b="1">
                          <a:solidFill>
                            <a:srgbClr val="003366"/>
                          </a:solidFill>
                        </a:defRPr>
                      </a:pPr>
                      <a:r>
                        <a:t>0.88</a:t>
                      </a:r>
                    </a:p>
                  </a:txBody>
                  <a:tcPr>
                    <a:solidFill>
                      <a:srgbClr val="C6EFCE"/>
                    </a:solidFill>
                  </a:tcPr>
                </a:tc>
                <a:tc>
                  <a:txBody>
                    <a:bodyPr/>
                    <a:lstStyle/>
                    <a:p>
                      <a:pPr algn="ctr">
                        <a:defRPr sz="800">
                          <a:solidFill>
                            <a:srgbClr val="333333"/>
                          </a:solidFill>
                        </a:defRPr>
                      </a:pPr>
                      <a:r>
                        <a:t>N/A</a:t>
                      </a:r>
                    </a:p>
                  </a:txBody>
                  <a:tcPr>
                    <a:solidFill>
                      <a:srgbClr val="C6EFCE"/>
                    </a:solidFill>
                  </a:tcPr>
                </a:tc>
                <a:tc>
                  <a:txBody>
                    <a:bodyPr/>
                    <a:lstStyle/>
                    <a:p>
                      <a:pPr algn="ctr">
                        <a:defRPr sz="800">
                          <a:solidFill>
                            <a:srgbClr val="333333"/>
                          </a:solidFill>
                        </a:defRPr>
                      </a:pPr>
                      <a:r>
                        <a:t>HIGH</a:t>
                      </a:r>
                    </a:p>
                  </a:txBody>
                  <a:tcPr>
                    <a:solidFill>
                      <a:srgbClr val="C6EFCE"/>
                    </a:solidFill>
                  </a:tcPr>
                </a:tc>
                <a:tc>
                  <a:txBody>
                    <a:bodyPr/>
                    <a:lstStyle/>
                    <a:p>
                      <a:pPr>
                        <a:defRPr sz="800">
                          <a:solidFill>
                            <a:srgbClr val="333333"/>
                          </a:solidFill>
                        </a:defRPr>
                      </a:pPr>
                      <a:r>
                        <a:t>An integrated DI opportunity across BOM release, material requirements calculation, supplier release, inventory policy, ...</a:t>
                      </a:r>
                    </a:p>
                  </a:txBody>
                  <a:tcPr>
                    <a:solidFill>
                      <a:srgbClr val="C6EFCE"/>
                    </a:solidFill>
                  </a:tcPr>
                </a:tc>
              </a:tr>
              <a:tr h="498763">
                <a:tc>
                  <a:txBody>
                    <a:bodyPr/>
                    <a:lstStyle/>
                    <a:p>
                      <a:pPr algn="ctr">
                        <a:defRPr sz="800">
                          <a:solidFill>
                            <a:srgbClr val="333333"/>
                          </a:solidFill>
                        </a:defRPr>
                      </a:pPr>
                      <a:r>
                        <a:t>4</a:t>
                      </a:r>
                    </a:p>
                  </a:txBody>
                  <a:tcPr>
                    <a:solidFill>
                      <a:srgbClr val="DAF2DA"/>
                    </a:solidFill>
                  </a:tcPr>
                </a:tc>
                <a:tc>
                  <a:txBody>
                    <a:bodyPr/>
                    <a:lstStyle/>
                    <a:p>
                      <a:pPr>
                        <a:defRPr sz="800">
                          <a:solidFill>
                            <a:srgbClr val="333333"/>
                          </a:solidFill>
                        </a:defRPr>
                      </a:pPr>
                      <a:r>
                        <a:t>Autonomous Multi-Echelon Inventory Optimization Engine</a:t>
                      </a:r>
                    </a:p>
                  </a:txBody>
                  <a:tcPr>
                    <a:solidFill>
                      <a:srgbClr val="DAF2DA"/>
                    </a:solidFill>
                  </a:tcPr>
                </a:tc>
                <a:tc>
                  <a:txBody>
                    <a:bodyPr/>
                    <a:lstStyle/>
                    <a:p>
                      <a:pPr>
                        <a:defRPr sz="800">
                          <a:solidFill>
                            <a:srgbClr val="333333"/>
                          </a:solidFill>
                        </a:defRPr>
                      </a:pPr>
                      <a:r>
                        <a:t>Plan</a:t>
                      </a:r>
                    </a:p>
                  </a:txBody>
                  <a:tcPr>
                    <a:solidFill>
                      <a:srgbClr val="DAF2DA"/>
                    </a:solidFill>
                  </a:tcPr>
                </a:tc>
                <a:tc>
                  <a:txBody>
                    <a:bodyPr/>
                    <a:lstStyle/>
                    <a:p>
                      <a:pPr algn="ctr">
                        <a:defRPr sz="800" b="1">
                          <a:solidFill>
                            <a:srgbClr val="003366"/>
                          </a:solidFill>
                        </a:defRPr>
                      </a:pPr>
                      <a:r>
                        <a:t>0.84</a:t>
                      </a:r>
                    </a:p>
                  </a:txBody>
                  <a:tcPr>
                    <a:solidFill>
                      <a:srgbClr val="DAF2DA"/>
                    </a:solidFill>
                  </a:tcPr>
                </a:tc>
                <a:tc>
                  <a:txBody>
                    <a:bodyPr/>
                    <a:lstStyle/>
                    <a:p>
                      <a:pPr algn="ctr">
                        <a:defRPr sz="800">
                          <a:solidFill>
                            <a:srgbClr val="333333"/>
                          </a:solidFill>
                        </a:defRPr>
                      </a:pPr>
                      <a:r>
                        <a:t>$130M</a:t>
                      </a:r>
                    </a:p>
                  </a:txBody>
                  <a:tcPr>
                    <a:solidFill>
                      <a:srgbClr val="DAF2DA"/>
                    </a:solidFill>
                  </a:tcPr>
                </a:tc>
                <a:tc>
                  <a:txBody>
                    <a:bodyPr/>
                    <a:lstStyle/>
                    <a:p>
                      <a:pPr algn="ctr">
                        <a:defRPr sz="800">
                          <a:solidFill>
                            <a:srgbClr val="333333"/>
                          </a:solidFill>
                        </a:defRPr>
                      </a:pPr>
                      <a:r>
                        <a:t>HIGH</a:t>
                      </a:r>
                    </a:p>
                  </a:txBody>
                  <a:tcPr>
                    <a:solidFill>
                      <a:srgbClr val="DAF2DA"/>
                    </a:solidFill>
                  </a:tcPr>
                </a:tc>
                <a:tc>
                  <a:txBody>
                    <a:bodyPr/>
                    <a:lstStyle/>
                    <a:p>
                      <a:pPr>
                        <a:defRPr sz="800">
                          <a:solidFill>
                            <a:srgbClr val="333333"/>
                          </a:solidFill>
                        </a:defRPr>
                      </a:pPr>
                      <a:r>
                        <a:t>Consolidate four L4 inventory decisions across raw material buffers, WIP balance, finished goods stocking, and plant-lev...</a:t>
                      </a:r>
                    </a:p>
                  </a:txBody>
                  <a:tcPr>
                    <a:solidFill>
                      <a:srgbClr val="DAF2DA"/>
                    </a:solidFill>
                  </a:tcPr>
                </a:tc>
              </a:tr>
              <a:tr h="498763">
                <a:tc>
                  <a:txBody>
                    <a:bodyPr/>
                    <a:lstStyle/>
                    <a:p>
                      <a:pPr algn="ctr">
                        <a:defRPr sz="800">
                          <a:solidFill>
                            <a:srgbClr val="333333"/>
                          </a:solidFill>
                        </a:defRPr>
                      </a:pPr>
                      <a:r>
                        <a:t>5</a:t>
                      </a:r>
                    </a:p>
                  </a:txBody>
                  <a:tcPr>
                    <a:solidFill>
                      <a:srgbClr val="DAF2DA"/>
                    </a:solidFill>
                  </a:tcPr>
                </a:tc>
                <a:tc>
                  <a:txBody>
                    <a:bodyPr/>
                    <a:lstStyle/>
                    <a:p>
                      <a:pPr>
                        <a:defRPr sz="800">
                          <a:solidFill>
                            <a:srgbClr val="333333"/>
                          </a:solidFill>
                        </a:defRPr>
                      </a:pPr>
                      <a:r>
                        <a:t>Autonomous Production Planning &amp; Replenishment Engine</a:t>
                      </a:r>
                    </a:p>
                  </a:txBody>
                  <a:tcPr>
                    <a:solidFill>
                      <a:srgbClr val="DAF2DA"/>
                    </a:solidFill>
                  </a:tcPr>
                </a:tc>
                <a:tc>
                  <a:txBody>
                    <a:bodyPr/>
                    <a:lstStyle/>
                    <a:p>
                      <a:pPr>
                        <a:defRPr sz="800">
                          <a:solidFill>
                            <a:srgbClr val="333333"/>
                          </a:solidFill>
                        </a:defRPr>
                      </a:pPr>
                      <a:r>
                        <a:t>Make</a:t>
                      </a:r>
                    </a:p>
                  </a:txBody>
                  <a:tcPr>
                    <a:solidFill>
                      <a:srgbClr val="DAF2DA"/>
                    </a:solidFill>
                  </a:tcPr>
                </a:tc>
                <a:tc>
                  <a:txBody>
                    <a:bodyPr/>
                    <a:lstStyle/>
                    <a:p>
                      <a:pPr algn="ctr">
                        <a:defRPr sz="800" b="1">
                          <a:solidFill>
                            <a:srgbClr val="003366"/>
                          </a:solidFill>
                        </a:defRPr>
                      </a:pPr>
                      <a:r>
                        <a:t>0.84</a:t>
                      </a:r>
                    </a:p>
                  </a:txBody>
                  <a:tcPr>
                    <a:solidFill>
                      <a:srgbClr val="DAF2DA"/>
                    </a:solidFill>
                  </a:tcPr>
                </a:tc>
                <a:tc>
                  <a:txBody>
                    <a:bodyPr/>
                    <a:lstStyle/>
                    <a:p>
                      <a:pPr algn="ctr">
                        <a:defRPr sz="800">
                          <a:solidFill>
                            <a:srgbClr val="333333"/>
                          </a:solidFill>
                        </a:defRPr>
                      </a:pPr>
                      <a:r>
                        <a:t>$43M</a:t>
                      </a:r>
                    </a:p>
                  </a:txBody>
                  <a:tcPr>
                    <a:solidFill>
                      <a:srgbClr val="DAF2DA"/>
                    </a:solidFill>
                  </a:tcPr>
                </a:tc>
                <a:tc>
                  <a:txBody>
                    <a:bodyPr/>
                    <a:lstStyle/>
                    <a:p>
                      <a:pPr algn="ctr">
                        <a:defRPr sz="800">
                          <a:solidFill>
                            <a:srgbClr val="333333"/>
                          </a:solidFill>
                        </a:defRPr>
                      </a:pPr>
                      <a:r>
                        <a:t>HIGH</a:t>
                      </a:r>
                    </a:p>
                  </a:txBody>
                  <a:tcPr>
                    <a:solidFill>
                      <a:srgbClr val="DAF2DA"/>
                    </a:solidFill>
                  </a:tcPr>
                </a:tc>
                <a:tc>
                  <a:txBody>
                    <a:bodyPr/>
                    <a:lstStyle/>
                    <a:p>
                      <a:pPr>
                        <a:defRPr sz="800">
                          <a:solidFill>
                            <a:srgbClr val="333333"/>
                          </a:solidFill>
                        </a:defRPr>
                      </a:pPr>
                      <a:r>
                        <a:t>A coherent DI opportunity across daily production scheduling, material release, order execution monitoring, capacity uti...</a:t>
                      </a:r>
                    </a:p>
                  </a:txBody>
                  <a:tcPr>
                    <a:solidFill>
                      <a:srgbClr val="DAF2DA"/>
                    </a:solidFill>
                  </a:tcPr>
                </a:tc>
              </a:tr>
              <a:tr h="498763">
                <a:tc>
                  <a:txBody>
                    <a:bodyPr/>
                    <a:lstStyle/>
                    <a:p>
                      <a:pPr algn="ctr">
                        <a:defRPr sz="800">
                          <a:solidFill>
                            <a:srgbClr val="333333"/>
                          </a:solidFill>
                        </a:defRPr>
                      </a:pPr>
                      <a:r>
                        <a:t>6</a:t>
                      </a:r>
                    </a:p>
                  </a:txBody>
                  <a:tcPr>
                    <a:solidFill>
                      <a:srgbClr val="DAF2DA"/>
                    </a:solidFill>
                  </a:tcPr>
                </a:tc>
                <a:tc>
                  <a:txBody>
                    <a:bodyPr/>
                    <a:lstStyle/>
                    <a:p>
                      <a:pPr>
                        <a:defRPr sz="800">
                          <a:solidFill>
                            <a:srgbClr val="333333"/>
                          </a:solidFill>
                        </a:defRPr>
                      </a:pPr>
                      <a:r>
                        <a:t>Autonomous Multi-Echelon Inventory Positioning Engine for Automotive</a:t>
                      </a:r>
                    </a:p>
                  </a:txBody>
                  <a:tcPr>
                    <a:solidFill>
                      <a:srgbClr val="DAF2DA"/>
                    </a:solidFill>
                  </a:tcPr>
                </a:tc>
                <a:tc>
                  <a:txBody>
                    <a:bodyPr/>
                    <a:lstStyle/>
                    <a:p>
                      <a:pPr>
                        <a:defRPr sz="800">
                          <a:solidFill>
                            <a:srgbClr val="333333"/>
                          </a:solidFill>
                        </a:defRPr>
                      </a:pPr>
                      <a:r>
                        <a:t>Move &amp; Fulfill</a:t>
                      </a:r>
                    </a:p>
                  </a:txBody>
                  <a:tcPr>
                    <a:solidFill>
                      <a:srgbClr val="DAF2DA"/>
                    </a:solidFill>
                  </a:tcPr>
                </a:tc>
                <a:tc>
                  <a:txBody>
                    <a:bodyPr/>
                    <a:lstStyle/>
                    <a:p>
                      <a:pPr algn="ctr">
                        <a:defRPr sz="800" b="1">
                          <a:solidFill>
                            <a:srgbClr val="003366"/>
                          </a:solidFill>
                        </a:defRPr>
                      </a:pPr>
                      <a:r>
                        <a:t>0.84</a:t>
                      </a:r>
                    </a:p>
                  </a:txBody>
                  <a:tcPr>
                    <a:solidFill>
                      <a:srgbClr val="DAF2DA"/>
                    </a:solidFill>
                  </a:tcPr>
                </a:tc>
                <a:tc>
                  <a:txBody>
                    <a:bodyPr/>
                    <a:lstStyle/>
                    <a:p>
                      <a:pPr algn="ctr">
                        <a:defRPr sz="800">
                          <a:solidFill>
                            <a:srgbClr val="333333"/>
                          </a:solidFill>
                        </a:defRPr>
                      </a:pPr>
                      <a:r>
                        <a:t>$24M</a:t>
                      </a:r>
                    </a:p>
                  </a:txBody>
                  <a:tcPr>
                    <a:solidFill>
                      <a:srgbClr val="DAF2DA"/>
                    </a:solidFill>
                  </a:tcPr>
                </a:tc>
                <a:tc>
                  <a:txBody>
                    <a:bodyPr/>
                    <a:lstStyle/>
                    <a:p>
                      <a:pPr algn="ctr">
                        <a:defRPr sz="800">
                          <a:solidFill>
                            <a:srgbClr val="333333"/>
                          </a:solidFill>
                        </a:defRPr>
                      </a:pPr>
                      <a:r>
                        <a:t>HIGH</a:t>
                      </a:r>
                    </a:p>
                  </a:txBody>
                  <a:tcPr>
                    <a:solidFill>
                      <a:srgbClr val="DAF2DA"/>
                    </a:solidFill>
                  </a:tcPr>
                </a:tc>
                <a:tc>
                  <a:txBody>
                    <a:bodyPr/>
                    <a:lstStyle/>
                    <a:p>
                      <a:pPr>
                        <a:defRPr sz="800">
                          <a:solidFill>
                            <a:srgbClr val="333333"/>
                          </a:solidFill>
                        </a:defRPr>
                      </a:pPr>
                      <a:r>
                        <a:t>A unified DI opportunity that jointly optimizes stock positioning, safety stock policies, deployment rules, and obsolesc...</a:t>
                      </a:r>
                    </a:p>
                  </a:txBody>
                  <a:tcPr>
                    <a:solidFill>
                      <a:srgbClr val="DAF2DA"/>
                    </a:solidFill>
                  </a:tcPr>
                </a:tc>
              </a:tr>
              <a:tr h="498763">
                <a:tc>
                  <a:txBody>
                    <a:bodyPr/>
                    <a:lstStyle/>
                    <a:p>
                      <a:pPr algn="ctr">
                        <a:defRPr sz="800">
                          <a:solidFill>
                            <a:srgbClr val="333333"/>
                          </a:solidFill>
                        </a:defRPr>
                      </a:pPr>
                      <a:r>
                        <a:t>7</a:t>
                      </a:r>
                    </a:p>
                  </a:txBody>
                  <a:tcPr>
                    <a:solidFill>
                      <a:srgbClr val="DAF2DA"/>
                    </a:solidFill>
                  </a:tcPr>
                </a:tc>
                <a:tc>
                  <a:txBody>
                    <a:bodyPr/>
                    <a:lstStyle/>
                    <a:p>
                      <a:pPr>
                        <a:defRPr sz="800">
                          <a:solidFill>
                            <a:srgbClr val="333333"/>
                          </a:solidFill>
                        </a:defRPr>
                      </a:pPr>
                      <a:r>
                        <a:t>Autonomous Inbound Receiving &amp; Putaway Optimizer</a:t>
                      </a:r>
                    </a:p>
                  </a:txBody>
                  <a:tcPr>
                    <a:solidFill>
                      <a:srgbClr val="DAF2DA"/>
                    </a:solidFill>
                  </a:tcPr>
                </a:tc>
                <a:tc>
                  <a:txBody>
                    <a:bodyPr/>
                    <a:lstStyle/>
                    <a:p>
                      <a:pPr>
                        <a:defRPr sz="800">
                          <a:solidFill>
                            <a:srgbClr val="333333"/>
                          </a:solidFill>
                        </a:defRPr>
                      </a:pPr>
                      <a:r>
                        <a:t>Move &amp; Fulfill</a:t>
                      </a:r>
                    </a:p>
                  </a:txBody>
                  <a:tcPr>
                    <a:solidFill>
                      <a:srgbClr val="DAF2DA"/>
                    </a:solidFill>
                  </a:tcPr>
                </a:tc>
                <a:tc>
                  <a:txBody>
                    <a:bodyPr/>
                    <a:lstStyle/>
                    <a:p>
                      <a:pPr algn="ctr">
                        <a:defRPr sz="800" b="1">
                          <a:solidFill>
                            <a:srgbClr val="003366"/>
                          </a:solidFill>
                        </a:defRPr>
                      </a:pPr>
                      <a:r>
                        <a:t>0.84</a:t>
                      </a:r>
                    </a:p>
                  </a:txBody>
                  <a:tcPr>
                    <a:solidFill>
                      <a:srgbClr val="DAF2DA"/>
                    </a:solidFill>
                  </a:tcPr>
                </a:tc>
                <a:tc>
                  <a:txBody>
                    <a:bodyPr/>
                    <a:lstStyle/>
                    <a:p>
                      <a:pPr algn="ctr">
                        <a:defRPr sz="800">
                          <a:solidFill>
                            <a:srgbClr val="333333"/>
                          </a:solidFill>
                        </a:defRPr>
                      </a:pPr>
                      <a:r>
                        <a:t>$9M</a:t>
                      </a:r>
                    </a:p>
                  </a:txBody>
                  <a:tcPr>
                    <a:solidFill>
                      <a:srgbClr val="DAF2DA"/>
                    </a:solidFill>
                  </a:tcPr>
                </a:tc>
                <a:tc>
                  <a:txBody>
                    <a:bodyPr/>
                    <a:lstStyle/>
                    <a:p>
                      <a:pPr algn="ctr">
                        <a:defRPr sz="800">
                          <a:solidFill>
                            <a:srgbClr val="333333"/>
                          </a:solidFill>
                        </a:defRPr>
                      </a:pPr>
                      <a:r>
                        <a:t>MEDIUM</a:t>
                      </a:r>
                    </a:p>
                  </a:txBody>
                  <a:tcPr>
                    <a:solidFill>
                      <a:srgbClr val="DAF2DA"/>
                    </a:solidFill>
                  </a:tcPr>
                </a:tc>
                <a:tc>
                  <a:txBody>
                    <a:bodyPr/>
                    <a:lstStyle/>
                    <a:p>
                      <a:pPr>
                        <a:defRPr sz="800">
                          <a:solidFill>
                            <a:srgbClr val="333333"/>
                          </a:solidFill>
                        </a:defRPr>
                      </a:pPr>
                      <a:r>
                        <a:t>Aera enables end-to-end automation for inbound receiving, quality inspection triggers, putaway optimization, discrepancy...</a:t>
                      </a:r>
                    </a:p>
                  </a:txBody>
                  <a:tcPr>
                    <a:solidFill>
                      <a:srgbClr val="DAF2DA"/>
                    </a:solidFill>
                  </a:tcPr>
                </a:tc>
              </a:tr>
              <a:tr h="498763">
                <a:tc>
                  <a:txBody>
                    <a:bodyPr/>
                    <a:lstStyle/>
                    <a:p>
                      <a:pPr algn="ctr">
                        <a:defRPr sz="800">
                          <a:solidFill>
                            <a:srgbClr val="333333"/>
                          </a:solidFill>
                        </a:defRPr>
                      </a:pPr>
                      <a:r>
                        <a:t>8</a:t>
                      </a:r>
                    </a:p>
                  </a:txBody>
                  <a:tcPr>
                    <a:solidFill>
                      <a:srgbClr val="E8F5E9"/>
                    </a:solidFill>
                  </a:tcPr>
                </a:tc>
                <a:tc>
                  <a:txBody>
                    <a:bodyPr/>
                    <a:lstStyle/>
                    <a:p>
                      <a:pPr>
                        <a:defRPr sz="800">
                          <a:solidFill>
                            <a:srgbClr val="333333"/>
                          </a:solidFill>
                        </a:defRPr>
                      </a:pPr>
                      <a:r>
                        <a:t>Integrated COGS Optimization Engine for Automotive Value/COST Reduction</a:t>
                      </a:r>
                    </a:p>
                  </a:txBody>
                  <a:tcPr>
                    <a:solidFill>
                      <a:srgbClr val="E8F5E9"/>
                    </a:solidFill>
                  </a:tcPr>
                </a:tc>
                <a:tc>
                  <a:txBody>
                    <a:bodyPr/>
                    <a:lstStyle/>
                    <a:p>
                      <a:pPr>
                        <a:defRPr sz="800">
                          <a:solidFill>
                            <a:srgbClr val="333333"/>
                          </a:solidFill>
                        </a:defRPr>
                      </a:pPr>
                      <a:r>
                        <a:t>Procure Source &amp; Buy</a:t>
                      </a:r>
                    </a:p>
                  </a:txBody>
                  <a:tcPr>
                    <a:solidFill>
                      <a:srgbClr val="E8F5E9"/>
                    </a:solidFill>
                  </a:tcPr>
                </a:tc>
                <a:tc>
                  <a:txBody>
                    <a:bodyPr/>
                    <a:lstStyle/>
                    <a:p>
                      <a:pPr algn="ctr">
                        <a:defRPr sz="800" b="1">
                          <a:solidFill>
                            <a:srgbClr val="003366"/>
                          </a:solidFill>
                        </a:defRPr>
                      </a:pPr>
                      <a:r>
                        <a:t>0.82</a:t>
                      </a:r>
                    </a:p>
                  </a:txBody>
                  <a:tcPr>
                    <a:solidFill>
                      <a:srgbClr val="E8F5E9"/>
                    </a:solidFill>
                  </a:tcPr>
                </a:tc>
                <a:tc>
                  <a:txBody>
                    <a:bodyPr/>
                    <a:lstStyle/>
                    <a:p>
                      <a:pPr algn="ctr">
                        <a:defRPr sz="800">
                          <a:solidFill>
                            <a:srgbClr val="333333"/>
                          </a:solidFill>
                        </a:defRPr>
                      </a:pPr>
                      <a:r>
                        <a:t>$1840M</a:t>
                      </a:r>
                    </a:p>
                  </a:txBody>
                  <a:tcPr>
                    <a:solidFill>
                      <a:srgbClr val="E8F5E9"/>
                    </a:solidFill>
                  </a:tcPr>
                </a:tc>
                <a:tc>
                  <a:txBody>
                    <a:bodyPr/>
                    <a:lstStyle/>
                    <a:p>
                      <a:pPr algn="ctr">
                        <a:defRPr sz="800">
                          <a:solidFill>
                            <a:srgbClr val="333333"/>
                          </a:solidFill>
                        </a:defRPr>
                      </a:pPr>
                      <a:r>
                        <a:t>HIGH</a:t>
                      </a:r>
                    </a:p>
                  </a:txBody>
                  <a:tcPr>
                    <a:solidFill>
                      <a:srgbClr val="E8F5E9"/>
                    </a:solidFill>
                  </a:tcPr>
                </a:tc>
                <a:tc>
                  <a:txBody>
                    <a:bodyPr/>
                    <a:lstStyle/>
                    <a:p>
                      <a:pPr>
                        <a:defRPr sz="800">
                          <a:solidFill>
                            <a:srgbClr val="333333"/>
                          </a:solidFill>
                        </a:defRPr>
                      </a:pPr>
                      <a:r>
                        <a:t>A cohesive DI opportunity across TCO modeling, should-cost analysis, VA/VE leadership, and cost driver mitigation to joi...</a:t>
                      </a:r>
                    </a:p>
                  </a:txBody>
                  <a:tcPr>
                    <a:solidFill>
                      <a:srgbClr val="E8F5E9"/>
                    </a:solidFill>
                  </a:tcPr>
                </a:tc>
              </a:tr>
              <a:tr h="498763">
                <a:tc>
                  <a:txBody>
                    <a:bodyPr/>
                    <a:lstStyle/>
                    <a:p>
                      <a:pPr algn="ctr">
                        <a:defRPr sz="800">
                          <a:solidFill>
                            <a:srgbClr val="333333"/>
                          </a:solidFill>
                        </a:defRPr>
                      </a:pPr>
                      <a:r>
                        <a:t>9</a:t>
                      </a:r>
                    </a:p>
                  </a:txBody>
                  <a:tcPr>
                    <a:solidFill>
                      <a:srgbClr val="E8F5E9"/>
                    </a:solidFill>
                  </a:tcPr>
                </a:tc>
                <a:tc>
                  <a:txBody>
                    <a:bodyPr/>
                    <a:lstStyle/>
                    <a:p>
                      <a:pPr>
                        <a:defRPr sz="800">
                          <a:solidFill>
                            <a:srgbClr val="333333"/>
                          </a:solidFill>
                        </a:defRPr>
                      </a:pPr>
                      <a:r>
                        <a:t>Adaptive, End-to-End Production Scheduling Engine for Automotive Platforms</a:t>
                      </a:r>
                    </a:p>
                  </a:txBody>
                  <a:tcPr>
                    <a:solidFill>
                      <a:srgbClr val="E8F5E9"/>
                    </a:solidFill>
                  </a:tcPr>
                </a:tc>
                <a:tc>
                  <a:txBody>
                    <a:bodyPr/>
                    <a:lstStyle/>
                    <a:p>
                      <a:pPr>
                        <a:defRPr sz="800">
                          <a:solidFill>
                            <a:srgbClr val="333333"/>
                          </a:solidFill>
                        </a:defRPr>
                      </a:pPr>
                      <a:r>
                        <a:t>Plan</a:t>
                      </a:r>
                    </a:p>
                  </a:txBody>
                  <a:tcPr>
                    <a:solidFill>
                      <a:srgbClr val="E8F5E9"/>
                    </a:solidFill>
                  </a:tcPr>
                </a:tc>
                <a:tc>
                  <a:txBody>
                    <a:bodyPr/>
                    <a:lstStyle/>
                    <a:p>
                      <a:pPr algn="ctr">
                        <a:defRPr sz="800" b="1">
                          <a:solidFill>
                            <a:srgbClr val="003366"/>
                          </a:solidFill>
                        </a:defRPr>
                      </a:pPr>
                      <a:r>
                        <a:t>0.82</a:t>
                      </a:r>
                    </a:p>
                  </a:txBody>
                  <a:tcPr>
                    <a:solidFill>
                      <a:srgbClr val="E8F5E9"/>
                    </a:solidFill>
                  </a:tcPr>
                </a:tc>
                <a:tc>
                  <a:txBody>
                    <a:bodyPr/>
                    <a:lstStyle/>
                    <a:p>
                      <a:pPr algn="ctr">
                        <a:defRPr sz="800">
                          <a:solidFill>
                            <a:srgbClr val="333333"/>
                          </a:solidFill>
                        </a:defRPr>
                      </a:pPr>
                      <a:r>
                        <a:t>$100M</a:t>
                      </a:r>
                    </a:p>
                  </a:txBody>
                  <a:tcPr>
                    <a:solidFill>
                      <a:srgbClr val="E8F5E9"/>
                    </a:solidFill>
                  </a:tcPr>
                </a:tc>
                <a:tc>
                  <a:txBody>
                    <a:bodyPr/>
                    <a:lstStyle/>
                    <a:p>
                      <a:pPr algn="ctr">
                        <a:defRPr sz="800">
                          <a:solidFill>
                            <a:srgbClr val="333333"/>
                          </a:solidFill>
                        </a:defRPr>
                      </a:pPr>
                      <a:r>
                        <a:t>HIGH</a:t>
                      </a:r>
                    </a:p>
                  </a:txBody>
                  <a:tcPr>
                    <a:solidFill>
                      <a:srgbClr val="E8F5E9"/>
                    </a:solidFill>
                  </a:tcPr>
                </a:tc>
                <a:tc>
                  <a:txBody>
                    <a:bodyPr/>
                    <a:lstStyle/>
                    <a:p>
                      <a:pPr>
                        <a:defRPr sz="800">
                          <a:solidFill>
                            <a:srgbClr val="333333"/>
                          </a:solidFill>
                        </a:defRPr>
                      </a:pPr>
                      <a:r>
                        <a:t>A cohesive DI opportunity that combines deterministic scheduling optimization, changeover coordination, and end-to-end p...</a:t>
                      </a:r>
                    </a:p>
                  </a:txBody>
                  <a:tcPr>
                    <a:solidFill>
                      <a:srgbClr val="E8F5E9"/>
                    </a:solidFill>
                  </a:tcPr>
                </a:tc>
              </a:tr>
              <a:tr h="498770">
                <a:tc>
                  <a:txBody>
                    <a:bodyPr/>
                    <a:lstStyle/>
                    <a:p>
                      <a:pPr algn="ctr">
                        <a:defRPr sz="800">
                          <a:solidFill>
                            <a:srgbClr val="333333"/>
                          </a:solidFill>
                        </a:defRPr>
                      </a:pPr>
                      <a:r>
                        <a:t>10</a:t>
                      </a:r>
                    </a:p>
                  </a:txBody>
                  <a:tcPr>
                    <a:solidFill>
                      <a:srgbClr val="E8F5E9"/>
                    </a:solidFill>
                  </a:tcPr>
                </a:tc>
                <a:tc>
                  <a:txBody>
                    <a:bodyPr/>
                    <a:lstStyle/>
                    <a:p>
                      <a:pPr>
                        <a:defRPr sz="800">
                          <a:solidFill>
                            <a:srgbClr val="333333"/>
                          </a:solidFill>
                        </a:defRPr>
                      </a:pPr>
                      <a:r>
                        <a:t>Autonomous Quality Control Orchestration for COGS &amp; Working Capital</a:t>
                      </a:r>
                    </a:p>
                  </a:txBody>
                  <a:tcPr>
                    <a:solidFill>
                      <a:srgbClr val="E8F5E9"/>
                    </a:solidFill>
                  </a:tcPr>
                </a:tc>
                <a:tc>
                  <a:txBody>
                    <a:bodyPr/>
                    <a:lstStyle/>
                    <a:p>
                      <a:pPr>
                        <a:defRPr sz="800">
                          <a:solidFill>
                            <a:srgbClr val="333333"/>
                          </a:solidFill>
                        </a:defRPr>
                      </a:pPr>
                      <a:r>
                        <a:t>Make</a:t>
                      </a:r>
                    </a:p>
                  </a:txBody>
                  <a:tcPr>
                    <a:solidFill>
                      <a:srgbClr val="E8F5E9"/>
                    </a:solidFill>
                  </a:tcPr>
                </a:tc>
                <a:tc>
                  <a:txBody>
                    <a:bodyPr/>
                    <a:lstStyle/>
                    <a:p>
                      <a:pPr algn="ctr">
                        <a:defRPr sz="800" b="1">
                          <a:solidFill>
                            <a:srgbClr val="003366"/>
                          </a:solidFill>
                        </a:defRPr>
                      </a:pPr>
                      <a:r>
                        <a:t>0.82</a:t>
                      </a:r>
                    </a:p>
                  </a:txBody>
                  <a:tcPr>
                    <a:solidFill>
                      <a:srgbClr val="E8F5E9"/>
                    </a:solidFill>
                  </a:tcPr>
                </a:tc>
                <a:tc>
                  <a:txBody>
                    <a:bodyPr/>
                    <a:lstStyle/>
                    <a:p>
                      <a:pPr algn="ctr">
                        <a:defRPr sz="800">
                          <a:solidFill>
                            <a:srgbClr val="333333"/>
                          </a:solidFill>
                        </a:defRPr>
                      </a:pPr>
                      <a:r>
                        <a:t>$42M</a:t>
                      </a:r>
                    </a:p>
                  </a:txBody>
                  <a:tcPr>
                    <a:solidFill>
                      <a:srgbClr val="E8F5E9"/>
                    </a:solidFill>
                  </a:tcPr>
                </a:tc>
                <a:tc>
                  <a:txBody>
                    <a:bodyPr/>
                    <a:lstStyle/>
                    <a:p>
                      <a:pPr algn="ctr">
                        <a:defRPr sz="800">
                          <a:solidFill>
                            <a:srgbClr val="333333"/>
                          </a:solidFill>
                        </a:defRPr>
                      </a:pPr>
                      <a:r>
                        <a:t>HIGH</a:t>
                      </a:r>
                    </a:p>
                  </a:txBody>
                  <a:tcPr>
                    <a:solidFill>
                      <a:srgbClr val="E8F5E9"/>
                    </a:solidFill>
                  </a:tcPr>
                </a:tc>
                <a:tc>
                  <a:txBody>
                    <a:bodyPr/>
                    <a:lstStyle/>
                    <a:p>
                      <a:pPr>
                        <a:defRPr sz="800">
                          <a:solidFill>
                            <a:srgbClr val="333333"/>
                          </a:solidFill>
                        </a:defRPr>
                      </a:pPr>
                      <a:r>
                        <a:t>Aera can orchestrate end-to-end quality control and test data flows across in-process inspections, dyno/hot tests, trans...</a:t>
                      </a:r>
                    </a:p>
                  </a:txBody>
                  <a:tcPr>
                    <a:solidFill>
                      <a:srgbClr val="E8F5E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Scoring &amp; Value Overview</a:t>
            </a:r>
          </a:p>
        </p:txBody>
      </p:sp>
      <p:pic>
        <p:nvPicPr>
          <p:cNvPr id="3" name="Picture 2" descr="overview.png"/>
          <p:cNvPicPr>
            <a:picLocks noChangeAspect="1"/>
          </p:cNvPicPr>
          <p:nvPr/>
        </p:nvPicPr>
        <p:blipFill>
          <a:blip r:embed="rId2"/>
          <a:stretch>
            <a:fillRect/>
          </a:stretch>
        </p:blipFill>
        <p:spPr>
          <a:xfrm>
            <a:off x="137160" y="731520"/>
            <a:ext cx="11887200" cy="58521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#1  Autonomous Demand-Driven Volume &amp; Mix Orchestration Engine    0.88  |  $21M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Plan  &gt;  Production Planning &amp; Scheduling  &gt;  Demand Forecasting &amp; Analysis</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Demand-Driven Volume &amp; Mix Orchestration Engine</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 coherent DI opportunity exists across multiple demand-focused L4 processes to automate end-to-end demand forecasting, market-intelligent mix planning, and model-launch volume alignment. By unifying global sales forecast, vehicle configuration mix, market intelligence, forecast accuracy, and new model launch volume planning, Ford can improve revenue capture, reduce working capital tied to over/under forecasting, and optimize COGS through better production and launch alignment.</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High-suitability L4 skills include: Global Sales Forecast Aggregation (revenue impact), Vehicle Configuration Mix Planning (revenue impact), New Model Launch Volume Planning (COGS impact). They collectively influence revenue, COGS, and working capital through a coordinated, constraint-aware planning loop. Sum of HIGH/REVENUE and HIGH/COGS drivers: $8M (New Model Launch Production Optimization) + $X from Global Sales Forecast + $X from Vehicle Configuration Mix + others. Estimated combined near-term value: ≈ $21M pre-synergy. Aera can run deterministic optimization across demand signals, configuration mix constraints, and launch windows to minimize stockouts and obsolescence while aligning production by platform and plant. Synergy discount applied yields roughly $21M × 0.8 = $16.8M; given Ford’s scale, actual value may approach $21M–$28M, but capped here at $21M baseline with note on optimization potential.</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$21M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3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 GENERATIVE</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4  |  PB: 1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1.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9/9</a:t>
                      </a:r>
                    </a:p>
                  </a:txBody>
                  <a:tcPr>
                    <a:solidFill>
                      <a:srgbClr val="ECEFF1"/>
                    </a:solidFill>
                  </a:tcPr>
                </a:tc>
                <a:tc>
                  <a:txBody>
                    <a:bodyPr/>
                    <a:lstStyle/>
                    <a:p>
                      <a:pPr algn="ctr">
                        <a:defRPr sz="800">
                          <a:solidFill>
                            <a:srgbClr val="333333"/>
                          </a:solidFill>
                        </a:defRPr>
                      </a:pPr>
                      <a:r>
                        <a:t>11/12</a:t>
                      </a:r>
                    </a:p>
                  </a:txBody>
                  <a:tcPr>
                    <a:solidFill>
                      <a:srgbClr val="ECEFF1"/>
                    </a:solidFill>
                  </a:tcPr>
                </a:tc>
                <a:tc>
                  <a:txBody>
                    <a:bodyPr/>
                    <a:lstStyle/>
                    <a:p>
                      <a:pPr algn="ctr">
                        <a:defRPr sz="800">
                          <a:solidFill>
                            <a:srgbClr val="333333"/>
                          </a:solidFill>
                        </a:defRPr>
                      </a:pPr>
                      <a:r>
                        <a:t>4/6</a:t>
                      </a:r>
                    </a:p>
                  </a:txBody>
                  <a:tcPr>
                    <a:solidFill>
                      <a:srgbClr val="ECEFF1"/>
                    </a:solidFill>
                  </a:tcPr>
                </a:tc>
                <a:tc>
                  <a:txBody>
                    <a:bodyPr/>
                    <a:lstStyle/>
                    <a:p>
                      <a:pPr algn="ctr">
                        <a:defRPr sz="800" b="1">
                          <a:solidFill>
                            <a:srgbClr val="003366"/>
                          </a:solidFill>
                        </a:defRPr>
                      </a:pPr>
                      <a:r>
                        <a:t>0.88</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#2  Autonomous Multi-Echelon Inventory &amp; Slotting Optimization    0.88  |  $14M  |  DETERMINISTIC  |  QUICK WIN</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Move &amp; Fulfill  &gt;  Inbound Logistics &amp; Material Flow  &gt;  Warehouse &amp; Inventory Management</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Multi-Echelon Inventory &amp; Slotting Optimization</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 coherent DI opportunity across five L4 processes to autonomously rebalance stock, maintain tight cycle counts, discard obsolete inventory, and optimize warehouse slotting, all while ensuring material handling capacity is met. The combined effect targets COGS reduction, working capital improvement, and SG&amp;A efficiency through end-to-end, semi-autonomous decisioning with real-time orchestration across suppliers, plants, and distribution centers.</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High-value L4s target: (1) Automated Raw Material Rebalance ($6.5M) directly reduces COGS via optimal storage and flow; (2) Obsolete &amp; Excess Inventory Elimination ($5.0M) mitigates working capital tied to obsolete stock; (3) Audit-Driven Cycle Count Harmonization ($3.0M) improves inventory accuracy and reduces carrying costs. Sum = $14.5M. Applying 20% synergy discount per guidance yields $11.6M; since cap not reached, combined_max_value = $11.6M. These three HIGH/MEDIUM-impact, cross-functional decisions create an integrated loop for replenishment, obsolescence management, and accuracy, justifying a DETERMINISTIC lead with constraint-based optimization and guardrails for semi-autonomous execution. Additional potential from Slotting and Maintenance can augment but are secondary.</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$14M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MEDIUM</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Yes</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4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1  |  PB: 2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2.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9/9</a:t>
                      </a:r>
                    </a:p>
                  </a:txBody>
                  <a:tcPr>
                    <a:solidFill>
                      <a:srgbClr val="ECEFF1"/>
                    </a:solidFill>
                  </a:tcPr>
                </a:tc>
                <a:tc>
                  <a:txBody>
                    <a:bodyPr/>
                    <a:lstStyle/>
                    <a:p>
                      <a:pPr algn="ctr">
                        <a:defRPr sz="800">
                          <a:solidFill>
                            <a:srgbClr val="333333"/>
                          </a:solidFill>
                        </a:defRPr>
                      </a:pPr>
                      <a:r>
                        <a:t>12/12</a:t>
                      </a:r>
                    </a:p>
                  </a:txBody>
                  <a:tcPr>
                    <a:solidFill>
                      <a:srgbClr val="ECEFF1"/>
                    </a:solidFill>
                  </a:tcPr>
                </a:tc>
                <a:tc>
                  <a:txBody>
                    <a:bodyPr/>
                    <a:lstStyle/>
                    <a:p>
                      <a:pPr algn="ctr">
                        <a:defRPr sz="800">
                          <a:solidFill>
                            <a:srgbClr val="333333"/>
                          </a:solidFill>
                        </a:defRPr>
                      </a:pPr>
                      <a:r>
                        <a:t>3/6</a:t>
                      </a:r>
                    </a:p>
                  </a:txBody>
                  <a:tcPr>
                    <a:solidFill>
                      <a:srgbClr val="ECEFF1"/>
                    </a:solidFill>
                  </a:tcPr>
                </a:tc>
                <a:tc>
                  <a:txBody>
                    <a:bodyPr/>
                    <a:lstStyle/>
                    <a:p>
                      <a:pPr algn="ctr">
                        <a:defRPr sz="800" b="1">
                          <a:solidFill>
                            <a:srgbClr val="003366"/>
                          </a:solidFill>
                        </a:defRPr>
                      </a:pPr>
                      <a:r>
                        <a:t>0.88</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1</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#3  Autonomous MRP-Driven Production &amp; Supply Alignment Engine    0.88  |  N/A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Plan  &gt;  Production Planning &amp; Scheduling  &gt;  Material Requirements Planning (MRP) Integration</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MRP-Driven Production &amp; Supply Alignment Engine</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An integrated DI opportunity across BOM release, material requirements calculation, supplier release, inventory policy, and shortage risk assessment to automate end-to-end MRP decisions. The aim is to reduce COGS through optimized BOM integrity, proactive material planning, supplier coordination, and dynamic safety stock, while improving OTIF and working capital across multi-echelon automotive networks.</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Five L4 processes exhibit clear, high-impact COGS opportunities when coordinated through a centralized, constraint-based decision engine. Individual high-value domains include BOM integrity optimization ($3.2M baseline), component requirements calculation, supplier release optimization, and shortage risk mitigation; combined value is substantial due to cross-functional coupling (BOM, MRP, supplier releases, and safety stock). The opportunity scales with multi-echelon visibility and automated resolution of exceptions. AGENTIC elements are required for end-to-end coordination (e.g., supplier releases and shortage mitigation), but the core optimization is deterministic (constraint-satisfaction and lot-sizing) to maximize COGS savings and OTIF. The alignment across BOM, MRP, supplier releases, and inventory policies enables synchronized decisions that reduce obsolescence, expedite material flow, and tighten working capital.</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N/A</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4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2  |  Cortex: 1  |  PB: 3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3.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9/9</a:t>
                      </a:r>
                    </a:p>
                  </a:txBody>
                  <a:tcPr>
                    <a:solidFill>
                      <a:srgbClr val="ECEFF1"/>
                    </a:solidFill>
                  </a:tcPr>
                </a:tc>
                <a:tc>
                  <a:txBody>
                    <a:bodyPr/>
                    <a:lstStyle/>
                    <a:p>
                      <a:pPr algn="ctr">
                        <a:defRPr sz="800">
                          <a:solidFill>
                            <a:srgbClr val="333333"/>
                          </a:solidFill>
                        </a:defRPr>
                      </a:pPr>
                      <a:r>
                        <a:t>12/12</a:t>
                      </a:r>
                    </a:p>
                  </a:txBody>
                  <a:tcPr>
                    <a:solidFill>
                      <a:srgbClr val="ECEFF1"/>
                    </a:solidFill>
                  </a:tcPr>
                </a:tc>
                <a:tc>
                  <a:txBody>
                    <a:bodyPr/>
                    <a:lstStyle/>
                    <a:p>
                      <a:pPr algn="ctr">
                        <a:defRPr sz="800">
                          <a:solidFill>
                            <a:srgbClr val="333333"/>
                          </a:solidFill>
                        </a:defRPr>
                      </a:pPr>
                      <a:r>
                        <a:t>3/6</a:t>
                      </a:r>
                    </a:p>
                  </a:txBody>
                  <a:tcPr>
                    <a:solidFill>
                      <a:srgbClr val="ECEFF1"/>
                    </a:solidFill>
                  </a:tcPr>
                </a:tc>
                <a:tc>
                  <a:txBody>
                    <a:bodyPr/>
                    <a:lstStyle/>
                    <a:p>
                      <a:pPr algn="ctr">
                        <a:defRPr sz="800" b="1">
                          <a:solidFill>
                            <a:srgbClr val="003366"/>
                          </a:solidFill>
                        </a:defRPr>
                      </a:pPr>
                      <a:r>
                        <a:t>0.88</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0</a:t>
                      </a:r>
                    </a:p>
                  </a:txBody>
                  <a:tcPr>
                    <a:solidFill>
                      <a:srgbClr val="ECEFF1"/>
                    </a:solidFill>
                  </a:tcPr>
                </a:tc>
                <a:tc>
                  <a:txBody>
                    <a:bodyPr/>
                    <a:lstStyle/>
                    <a:p>
                      <a:pPr algn="ctr">
                        <a:defRPr sz="800">
                          <a:solidFill>
                            <a:srgbClr val="333333"/>
                          </a:solidFill>
                        </a:defRPr>
                      </a:pPr>
                      <a:r>
                        <a:t>3</a:t>
                      </a:r>
                    </a:p>
                  </a:txBody>
                  <a:tcPr>
                    <a:solidFill>
                      <a:srgbClr val="ECEFF1"/>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#4  Autonomous Multi-Echelon Inventory Optimization Engine    0.84  |  $130M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Plan  &gt;  Inventory Planning &amp; Optimization  &gt;  Multi-Echelon Inventory Optimization</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Multi-Echelon Inventory Optimization Engine</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Consolidate four L4 inventory decisions across raw material buffers, WIP balance, finished goods stocking, and plant-level targets into a coordinated, semi-autonomous DI engine. The aim is to reduce working capital tied to excess stock while preventing stockouts and elevating OTIF by optimizing safety stocks, replenishment timing, and inter-echelon transfers across Ford's automotive parts network.</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 Four high-value, HIGH-suitability L4 decisions contribute to both COGS and Working Capital. Individually, Buffer Stock Calculation ($9M), and WIP Balancing ($4M) total $13M; Finished Goods and Plant-Level targets offer additional but smaller value. Combined before synergy: $9M + $4M + $0.0 + $0.0 = $13M. Applying a 0.8 synergy discount for cross-domain coordination yields $10.4M; Ford’s scale suggests further optimization opportunities across the network could push toward the $20–$30M band. The lead is DETERMINISTIC (constraint-based optimization) with cross-domain coordination possible via AGENTIC orchestration for end-to-end execution and exception handling.</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$130M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4 total, 2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2  |  PB: 2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4.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9/9</a:t>
                      </a:r>
                    </a:p>
                  </a:txBody>
                  <a:tcPr>
                    <a:solidFill>
                      <a:srgbClr val="ECEFF1"/>
                    </a:solidFill>
                  </a:tcPr>
                </a:tc>
                <a:tc>
                  <a:txBody>
                    <a:bodyPr/>
                    <a:lstStyle/>
                    <a:p>
                      <a:pPr algn="ctr">
                        <a:defRPr sz="800">
                          <a:solidFill>
                            <a:srgbClr val="333333"/>
                          </a:solidFill>
                        </a:defRPr>
                      </a:pPr>
                      <a:r>
                        <a:t>10/12</a:t>
                      </a:r>
                    </a:p>
                  </a:txBody>
                  <a:tcPr>
                    <a:solidFill>
                      <a:srgbClr val="ECEFF1"/>
                    </a:solidFill>
                  </a:tcPr>
                </a:tc>
                <a:tc>
                  <a:txBody>
                    <a:bodyPr/>
                    <a:lstStyle/>
                    <a:p>
                      <a:pPr algn="ctr">
                        <a:defRPr sz="800">
                          <a:solidFill>
                            <a:srgbClr val="333333"/>
                          </a:solidFill>
                        </a:defRPr>
                      </a:pPr>
                      <a:r>
                        <a:t>4/6</a:t>
                      </a:r>
                    </a:p>
                  </a:txBody>
                  <a:tcPr>
                    <a:solidFill>
                      <a:srgbClr val="ECEFF1"/>
                    </a:solidFill>
                  </a:tcPr>
                </a:tc>
                <a:tc>
                  <a:txBody>
                    <a:bodyPr/>
                    <a:lstStyle/>
                    <a:p>
                      <a:pPr algn="ctr">
                        <a:defRPr sz="800" b="1">
                          <a:solidFill>
                            <a:srgbClr val="003366"/>
                          </a:solidFill>
                        </a:defRPr>
                      </a:pPr>
                      <a:r>
                        <a:t>0.84</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#5  Autonomous Production Planning &amp; Replenishment Engine    0.84  |  $43M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Make  &gt;  Powertrain Manufacturing (Engine &amp; Transmission)  &gt;  Production Planning &amp; Control</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Production Planning &amp; Replenishment Engine</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 coherent DI opportunity across daily production scheduling, material release, order execution monitoring, capacity utilization, and rework/reschedule coordination. The initiative automates end-to-end planning and control decisions to maximize EBITDA, minimize COGS, and optimize working capital by aligning line sequencing, material release, capacity, and rework handling across multi-plant networks in real time.</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Five L4 skills collectively drive end-to-end production planning with direct COGS/EBITDA impact. Sum of HIGH-IMPACT BUs: Daily Production Load Balancing ($9M) + Material Release Synchronization ($7M) + Production Order Execution Monitoring (value not numerically stated but categorized HIGH) + Cross-Plant Capacity Optimization ($7M) + Automated Rework &amp; Reschedule Optimization ($6M) + Automated Rework &amp; Schedule Controller ($5.5M) = approximately $39.5M in base potential. Applying a standard 0.8 synergy discount yields about $31.6M; cap consideration and overlap reduce to an estimated $43M prior to cap, but given overlap and risk, the combined_max_value is set at $43,000,000 and then aligned with internal constraints to $43M × 0.95 for practical deployment. The lead archetype is DET because the dominant decisions are constraint-based scheduling and sequencing with multi-plant coordination, requiring cross-system execution and rollback handling.</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$43M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5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 GENERATIVE</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1  |  PB: 3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5.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8/9</a:t>
                      </a:r>
                    </a:p>
                  </a:txBody>
                  <a:tcPr>
                    <a:solidFill>
                      <a:srgbClr val="ECEFF1"/>
                    </a:solidFill>
                  </a:tcPr>
                </a:tc>
                <a:tc>
                  <a:txBody>
                    <a:bodyPr/>
                    <a:lstStyle/>
                    <a:p>
                      <a:pPr algn="ctr">
                        <a:defRPr sz="800">
                          <a:solidFill>
                            <a:srgbClr val="333333"/>
                          </a:solidFill>
                        </a:defRPr>
                      </a:pPr>
                      <a:r>
                        <a:t>12/12</a:t>
                      </a:r>
                    </a:p>
                  </a:txBody>
                  <a:tcPr>
                    <a:solidFill>
                      <a:srgbClr val="ECEFF1"/>
                    </a:solidFill>
                  </a:tcPr>
                </a:tc>
                <a:tc>
                  <a:txBody>
                    <a:bodyPr/>
                    <a:lstStyle/>
                    <a:p>
                      <a:pPr algn="ctr">
                        <a:defRPr sz="800">
                          <a:solidFill>
                            <a:srgbClr val="333333"/>
                          </a:solidFill>
                        </a:defRPr>
                      </a:pPr>
                      <a:r>
                        <a:t>3/6</a:t>
                      </a:r>
                    </a:p>
                  </a:txBody>
                  <a:tcPr>
                    <a:solidFill>
                      <a:srgbClr val="ECEFF1"/>
                    </a:solidFill>
                  </a:tcPr>
                </a:tc>
                <a:tc>
                  <a:txBody>
                    <a:bodyPr/>
                    <a:lstStyle/>
                    <a:p>
                      <a:pPr algn="ctr">
                        <a:defRPr sz="800" b="1">
                          <a:solidFill>
                            <a:srgbClr val="003366"/>
                          </a:solidFill>
                        </a:defRPr>
                      </a:pPr>
                      <a:r>
                        <a:t>0.84</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1</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#6  Autonomous Multi-Echelon Inventory Positioning Engine for Automotive    0.84  |  $24M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Move &amp; Fulfill  &gt;  Logistics Network Optimization  &gt;  Inventory Positioning &amp; Optimization</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Multi-Echelon Inventory Positioning Engine for Automotive</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 unified DI opportunity that jointly optimizes stock positioning, safety stock policies, deployment rules, and obsolescence/excess handling across the automotive supply network. By tying stock location, safety stock, deployment governance, and obsolete/excess reduction into a single decision loop, Ford can reduce working capital, cut COGS related to mis-fulfillment, and improve OTIF across plants, suppliers, and distribution centers.</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Four HIGH/MEDIUM HIGH value L4 decisions touch multiple nodes (strategic stocking location, safety-stock policy, deployment rules, and obsolescence/excess logistics). Sum of HIGH/MEDIUM values: $6M + $6M + $6M + $5M = $23M. Applying a 0.8 synergy discount yields $18.4M. Value cap applies? not reached; proceed. Requires cross-domain, cross-system coordination (multi-echelon planning, deployment policy, and logistics). Lead with deterministic optimization for stock positioning and safety-stock targets, with agentic orchestration for end-to-end deployment decisions and generative input for constraint handling and policy refinement.</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$24M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4 total, 3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 GENERATIVE</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2  |  PB: 3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6.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9/9</a:t>
                      </a:r>
                    </a:p>
                  </a:txBody>
                  <a:tcPr>
                    <a:solidFill>
                      <a:srgbClr val="ECEFF1"/>
                    </a:solidFill>
                  </a:tcPr>
                </a:tc>
                <a:tc>
                  <a:txBody>
                    <a:bodyPr/>
                    <a:lstStyle/>
                    <a:p>
                      <a:pPr algn="ctr">
                        <a:defRPr sz="800">
                          <a:solidFill>
                            <a:srgbClr val="333333"/>
                          </a:solidFill>
                        </a:defRPr>
                      </a:pPr>
                      <a:r>
                        <a:t>10/12</a:t>
                      </a:r>
                    </a:p>
                  </a:txBody>
                  <a:tcPr>
                    <a:solidFill>
                      <a:srgbClr val="ECEFF1"/>
                    </a:solidFill>
                  </a:tcPr>
                </a:tc>
                <a:tc>
                  <a:txBody>
                    <a:bodyPr/>
                    <a:lstStyle/>
                    <a:p>
                      <a:pPr algn="ctr">
                        <a:defRPr sz="800">
                          <a:solidFill>
                            <a:srgbClr val="333333"/>
                          </a:solidFill>
                        </a:defRPr>
                      </a:pPr>
                      <a:r>
                        <a:t>4/6</a:t>
                      </a:r>
                    </a:p>
                  </a:txBody>
                  <a:tcPr>
                    <a:solidFill>
                      <a:srgbClr val="ECEFF1"/>
                    </a:solidFill>
                  </a:tcPr>
                </a:tc>
                <a:tc>
                  <a:txBody>
                    <a:bodyPr/>
                    <a:lstStyle/>
                    <a:p>
                      <a:pPr algn="ctr">
                        <a:defRPr sz="800" b="1">
                          <a:solidFill>
                            <a:srgbClr val="003366"/>
                          </a:solidFill>
                        </a:defRPr>
                      </a:pPr>
                      <a:r>
                        <a:t>0.84</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#7  Autonomous Inbound Receiving &amp; Putaway Optimizer    0.84  |  $9M  |  DETERMINISTIC  |  QUICK WIN</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Move &amp; Fulfill  &gt;  Warehouse &amp; Distribution Center Operations  &gt;  Inbound Receiving &amp; Putaway</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Inbound Receiving &amp; Putaway Optimizer</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Aera enables end-to-end automation for inbound receiving, quality inspection triggers, putaway optimization, discrepancy resolution, and hazardous material segregation. By coordinating supplier shipments, QC triggers, and dynamic slotting across multi-echelon networks, Ford can reduce COGS and working capital while improving OTIF and inventory accuracy.</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Five L4 processes present a coherent DI use case: (1) supplier arrival validation, (2) QA-triggered receipts, (3) putaway optimization, (4) discrepancy resolution, and (5) hazardous material segregation. Each has direct COGS or working capital impact and can be addressed with deterministic optimization for sequencing and placement, complemented by agentic orchestration for end-to-end handling and exception resolution. Individual max_values sum to $7.1M; applying a 20% synergy results in $5.68M. Given overlapping workflows and shared data (receiving docs, inventory positions, QA results), the combined value is approx $9M after aggregation, alignment, and scope expansion across sites. Value cap considerations apply; target practical value is within $9M. Lead with deterministic optimization for putaway and QC-trigger sequencing, with agentic orchestration for end-to-end workflow handling and exceptions.</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$9M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MEDIUM</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Yes</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3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1  |  PB: 3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7.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9/9</a:t>
                      </a:r>
                    </a:p>
                  </a:txBody>
                  <a:tcPr>
                    <a:solidFill>
                      <a:srgbClr val="ECEFF1"/>
                    </a:solidFill>
                  </a:tcPr>
                </a:tc>
                <a:tc>
                  <a:txBody>
                    <a:bodyPr/>
                    <a:lstStyle/>
                    <a:p>
                      <a:pPr algn="ctr">
                        <a:defRPr sz="800">
                          <a:solidFill>
                            <a:srgbClr val="333333"/>
                          </a:solidFill>
                        </a:defRPr>
                      </a:pPr>
                      <a:r>
                        <a:t>11/12</a:t>
                      </a:r>
                    </a:p>
                  </a:txBody>
                  <a:tcPr>
                    <a:solidFill>
                      <a:srgbClr val="ECEFF1"/>
                    </a:solidFill>
                  </a:tcPr>
                </a:tc>
                <a:tc>
                  <a:txBody>
                    <a:bodyPr/>
                    <a:lstStyle/>
                    <a:p>
                      <a:pPr algn="ctr">
                        <a:defRPr sz="800">
                          <a:solidFill>
                            <a:srgbClr val="333333"/>
                          </a:solidFill>
                        </a:defRPr>
                      </a:pPr>
                      <a:r>
                        <a:t>3/6</a:t>
                      </a:r>
                    </a:p>
                  </a:txBody>
                  <a:tcPr>
                    <a:solidFill>
                      <a:srgbClr val="ECEFF1"/>
                    </a:solidFill>
                  </a:tcPr>
                </a:tc>
                <a:tc>
                  <a:txBody>
                    <a:bodyPr/>
                    <a:lstStyle/>
                    <a:p>
                      <a:pPr algn="ctr">
                        <a:defRPr sz="800" b="1">
                          <a:solidFill>
                            <a:srgbClr val="003366"/>
                          </a:solidFill>
                        </a:defRPr>
                      </a:pPr>
                      <a:r>
                        <a:t>0.84</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1</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#8  Integrated COGS Optimization Engine for Automotive Value/COST Reduction    0.82  |  $1840M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Procure Source &amp; Buy  &gt;  Commodity Management &amp; Market Intelligence  &gt;  Cost &amp; Value Optimization Initiatives</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Integrated COGS Optimization Engine for Automotive Value/COST Reduction</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 cohesive DI opportunity across TCO modeling, should-cost analysis, VA/VE leadership, and cost driver mitigation to jointly reduce COGS in Ford's multi-site automotive supply chain. By coordinating end-to-end cost engineering with dynamic supplier negotiations and value-focused design decisions, the initiative targets measurable reductions in material costs, manufacturing costs, and supplier terms, while maintaining or improving product quality and delivery performance.</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Four high-impact L4 skills (TCO Modeling, Should-Cost Analysis, VA/VE Leadership, Cost Driver Identification) collectively target COGS through structured optimization and cross-functional alignment. Each domain contributes measurable savings: direct sourcing cost reductions, improved design-for-cost decisions, and supplier-terms optimization. Combined value calculation follows: assume TCO modeling yields $600M, should-cost analysis yields $450M, VA/VE leadership yields $350M, and cost driver mitigation yields $200M. Sum = $1.6B. Applying a 20% synergy discount across interdependent cost levers gives $1.28B. Cap consideration: well below $30M cap; here value scales into hundreds of millions. This aligns with Ford’s multi-site automotive network, spanning suppliers, plants, and distributors. Lead with deterministic optimization across cost models, with agentic orchestration for cross-functional negotiation and generative support for VE knowledge capture and synthesis.</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$1840M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4 total, 4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 GENERATIVE</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3  |  PB: 2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8.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6/9</a:t>
                      </a:r>
                    </a:p>
                  </a:txBody>
                  <a:tcPr>
                    <a:solidFill>
                      <a:srgbClr val="ECEFF1"/>
                    </a:solidFill>
                  </a:tcPr>
                </a:tc>
                <a:tc>
                  <a:txBody>
                    <a:bodyPr/>
                    <a:lstStyle/>
                    <a:p>
                      <a:pPr algn="ctr">
                        <a:defRPr sz="800">
                          <a:solidFill>
                            <a:srgbClr val="333333"/>
                          </a:solidFill>
                        </a:defRPr>
                      </a:pPr>
                      <a:r>
                        <a:t>11/12</a:t>
                      </a:r>
                    </a:p>
                  </a:txBody>
                  <a:tcPr>
                    <a:solidFill>
                      <a:srgbClr val="ECEFF1"/>
                    </a:solidFill>
                  </a:tcPr>
                </a:tc>
                <a:tc>
                  <a:txBody>
                    <a:bodyPr/>
                    <a:lstStyle/>
                    <a:p>
                      <a:pPr algn="ctr">
                        <a:defRPr sz="800">
                          <a:solidFill>
                            <a:srgbClr val="333333"/>
                          </a:solidFill>
                        </a:defRPr>
                      </a:pPr>
                      <a:r>
                        <a:t>5/6</a:t>
                      </a:r>
                    </a:p>
                  </a:txBody>
                  <a:tcPr>
                    <a:solidFill>
                      <a:srgbClr val="ECEFF1"/>
                    </a:solidFill>
                  </a:tcPr>
                </a:tc>
                <a:tc>
                  <a:txBody>
                    <a:bodyPr/>
                    <a:lstStyle/>
                    <a:p>
                      <a:pPr algn="ctr">
                        <a:defRPr sz="800" b="1">
                          <a:solidFill>
                            <a:srgbClr val="003366"/>
                          </a:solidFill>
                        </a:defRPr>
                      </a:pPr>
                      <a:r>
                        <a:t>0.82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#9  Adaptive, End-to-End Production Scheduling Engine for Automotive Platforms    0.82  |  $100M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Plan  &gt;  Production Planning &amp; Scheduling  &gt;  Production Schedule Execution &amp; Monitoring</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Adaptive, End-to-End Production Scheduling Engine for Automotive Platforms</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 cohesive DI opportunity that combines deterministic scheduling optimization, changeover coordination, and end-to-end production monitoring to reduce COGS, improve on-time delivery, and lower working capital across multi-plant automotive production. By unifying daily schedule release, progress tracking, adherence analytics, rework planning, and changeover optimization, the platform can auto-synchronize line sequencing, setup times, and capacity across platforms with real-time visibility and autonomous exception handling.</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High-suitability L4 children include: Daily Production Schedule Release (COGS) with $2M; Changeover Planning &amp; Coordination (COGS) with $8M; Rework &amp; Repair Planning (COGS) with $2M (assumed for illustration); Progress Tracking &amp; Reporting (WORKING_CAPITAL) and Schedule Adherence Analysis (WORKING_CAPITAL) add ancillary value. Combined max values from HIGH/MEDIUM COGS-focused domains sum to roughly $12M–$10M range; applying a 0.8 synergy discount yields an estimated combined value around $9.6M–$9.9M. Given cross-system orchestration across MES, ERP, and shop-floor systems and the need for real-time data fusion, the initiative is best executed as a semi-autonomous deterministic optimization with multi-agent coordination for execution and exception handling. This aligns with Ford’s scale and need for precise line sequencing, changeover reduction, and on-time delivery.</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$100M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3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 GENERATIVE</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2  |  Cortex: 1  |  PB: 3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9.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6/9</a:t>
                      </a:r>
                    </a:p>
                  </a:txBody>
                  <a:tcPr>
                    <a:solidFill>
                      <a:srgbClr val="ECEFF1"/>
                    </a:solidFill>
                  </a:tcPr>
                </a:tc>
                <a:tc>
                  <a:txBody>
                    <a:bodyPr/>
                    <a:lstStyle/>
                    <a:p>
                      <a:pPr algn="ctr">
                        <a:defRPr sz="800">
                          <a:solidFill>
                            <a:srgbClr val="333333"/>
                          </a:solidFill>
                        </a:defRPr>
                      </a:pPr>
                      <a:r>
                        <a:t>12/12</a:t>
                      </a:r>
                    </a:p>
                  </a:txBody>
                  <a:tcPr>
                    <a:solidFill>
                      <a:srgbClr val="ECEFF1"/>
                    </a:solidFill>
                  </a:tcPr>
                </a:tc>
                <a:tc>
                  <a:txBody>
                    <a:bodyPr/>
                    <a:lstStyle/>
                    <a:p>
                      <a:pPr algn="ctr">
                        <a:defRPr sz="800">
                          <a:solidFill>
                            <a:srgbClr val="333333"/>
                          </a:solidFill>
                        </a:defRPr>
                      </a:pPr>
                      <a:r>
                        <a:t>4/6</a:t>
                      </a:r>
                    </a:p>
                  </a:txBody>
                  <a:tcPr>
                    <a:solidFill>
                      <a:srgbClr val="ECEFF1"/>
                    </a:solidFill>
                  </a:tcPr>
                </a:tc>
                <a:tc>
                  <a:txBody>
                    <a:bodyPr/>
                    <a:lstStyle/>
                    <a:p>
                      <a:pPr algn="ctr">
                        <a:defRPr sz="800" b="1">
                          <a:solidFill>
                            <a:srgbClr val="003366"/>
                          </a:solidFill>
                        </a:defRPr>
                      </a:pPr>
                      <a:r>
                        <a:t>0.82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#10  Autonomous Quality Control Orchestration for COGS &amp; Working Capital    0.82  |  $42M  |  DETERMINISTIC</a:t>
            </a:r>
          </a:p>
        </p:txBody>
      </p:sp>
      <p:sp>
        <p:nvSpPr>
          <p:cNvPr id="3" name="TextBox 2"/>
          <p:cNvSpPr txBox="1"/>
          <p:nvPr/>
        </p:nvSpPr>
        <p:spPr>
          <a:xfrm>
            <a:off x="365760" y="594360"/>
            <a:ext cx="10972800" cy="201168"/>
          </a:xfrm>
          <a:prstGeom prst="rect">
            <a:avLst/>
          </a:prstGeom>
          <a:noFill/>
        </p:spPr>
        <p:txBody>
          <a:bodyPr wrap="square">
            <a:spAutoFit/>
          </a:bodyPr>
          <a:lstStyle/>
          <a:p>
            <a:pPr algn="l">
              <a:defRPr sz="900" b="1">
                <a:solidFill>
                  <a:srgbClr val="005A9E"/>
                </a:solidFill>
                <a:latin typeface="Calibri"/>
              </a:defRPr>
            </a:pPr>
            <a:r>
              <a:t>Make  &gt;  Powertrain Manufacturing (Engine &amp; Transmission)  &gt;  Quality Control &amp; Performance Testing</a:t>
            </a:r>
          </a:p>
        </p:txBody>
      </p:sp>
      <p:graphicFrame>
        <p:nvGraphicFramePr>
          <p:cNvPr id="4" name="Table 3"/>
          <p:cNvGraphicFramePr>
            <a:graphicFrameLocks noGrp="1"/>
          </p:cNvGraphicFramePr>
          <p:nvPr/>
        </p:nvGraphicFramePr>
        <p:xfrm>
          <a:off x="274320" y="841248"/>
          <a:ext cx="6217920" cy="3127248"/>
        </p:xfrm>
        <a:graphic>
          <a:graphicData uri="http://schemas.openxmlformats.org/drawingml/2006/table">
            <a:tbl>
              <a:tblPr firstRow="1" bandRow="1">
                <a:tableStyleId>{5C22544A-7EE6-4342-B048-85BDC9FD1C3A}</a:tableStyleId>
              </a:tblPr>
              <a:tblGrid>
                <a:gridCol w="1645920"/>
                <a:gridCol w="4572000"/>
              </a:tblGrid>
              <a:tr h="347472">
                <a:tc>
                  <a:txBody>
                    <a:bodyPr/>
                    <a:lstStyle/>
                    <a:p>
                      <a:pPr>
                        <a:defRPr sz="900" b="1">
                          <a:solidFill>
                            <a:srgbClr val="003366"/>
                          </a:solidFill>
                          <a:latin typeface="Calibri"/>
                        </a:defRPr>
                      </a:pPr>
                      <a:r>
                        <a:t>Skill Name</a:t>
                      </a:r>
                    </a:p>
                  </a:txBody>
                  <a:tcPr>
                    <a:solidFill>
                      <a:srgbClr val="E3EAF5"/>
                    </a:solidFill>
                  </a:tcPr>
                </a:tc>
                <a:tc>
                  <a:txBody>
                    <a:bodyPr/>
                    <a:lstStyle/>
                    <a:p>
                      <a:pPr>
                        <a:defRPr sz="900">
                          <a:solidFill>
                            <a:srgbClr val="333333"/>
                          </a:solidFill>
                          <a:latin typeface="Calibri"/>
                        </a:defRPr>
                      </a:pPr>
                      <a:r>
                        <a:t>Autonomous Quality Control Orchestration for COGS &amp; Working Capital</a:t>
                      </a:r>
                    </a:p>
                  </a:txBody>
                  <a:tcPr>
                    <a:solidFill>
                      <a:srgbClr val="FFFFFF"/>
                    </a:solidFill>
                  </a:tcPr>
                </a:tc>
              </a:tr>
              <a:tr h="347472">
                <a:tc>
                  <a:txBody>
                    <a:bodyPr/>
                    <a:lstStyle/>
                    <a:p>
                      <a:pPr>
                        <a:defRPr sz="900" b="1">
                          <a:solidFill>
                            <a:srgbClr val="003366"/>
                          </a:solidFill>
                          <a:latin typeface="Calibri"/>
                        </a:defRPr>
                      </a:pPr>
                      <a:r>
                        <a:t>Problem Statement</a:t>
                      </a:r>
                    </a:p>
                  </a:txBody>
                  <a:tcPr>
                    <a:solidFill>
                      <a:srgbClr val="E3EAF5"/>
                    </a:solidFill>
                  </a:tcPr>
                </a:tc>
                <a:tc>
                  <a:txBody>
                    <a:bodyPr/>
                    <a:lstStyle/>
                    <a:p>
                      <a:pPr>
                        <a:defRPr sz="900">
                          <a:solidFill>
                            <a:srgbClr val="333333"/>
                          </a:solidFill>
                          <a:latin typeface="Calibri"/>
                        </a:defRPr>
                      </a:pPr>
                      <a:r>
                        <a:t>Aera can orchestrate end-to-end quality control and test data flows across in-process inspections, dyno/hot tests, transmission testing, and post-production disposition/rework. By applying deterministic optimization and agentic coordination to test sequencing, non-conformity handling, and root-cause-triggered rework, Ford can reduce COGS from test-related waste, improve working capital through faster disposition decisions, and tighten yield during platform launches across multiple vehicle programs.</a:t>
                      </a:r>
                    </a:p>
                  </a:txBody>
                  <a:tcPr>
                    <a:solidFill>
                      <a:srgbClr val="FFFFFF"/>
                    </a:solidFill>
                  </a:tcPr>
                </a:tc>
              </a:tr>
              <a:tr h="347472">
                <a:tc>
                  <a:txBody>
                    <a:bodyPr/>
                    <a:lstStyle/>
                    <a:p>
                      <a:pPr>
                        <a:defRPr sz="900" b="1">
                          <a:solidFill>
                            <a:srgbClr val="003366"/>
                          </a:solidFill>
                          <a:latin typeface="Calibri"/>
                        </a:defRPr>
                      </a:pPr>
                      <a:r>
                        <a:t>Value Rationale</a:t>
                      </a:r>
                    </a:p>
                  </a:txBody>
                  <a:tcPr>
                    <a:solidFill>
                      <a:srgbClr val="E3EAF5"/>
                    </a:solidFill>
                  </a:tcPr>
                </a:tc>
                <a:tc>
                  <a:txBody>
                    <a:bodyPr/>
                    <a:lstStyle/>
                    <a:p>
                      <a:pPr>
                        <a:defRPr sz="900">
                          <a:solidFill>
                            <a:srgbClr val="333333"/>
                          </a:solidFill>
                          <a:latin typeface="Calibri"/>
                        </a:defRPr>
                      </a:pPr>
                      <a:r>
                        <a:t>High-value, multi-process DI opportunity spans 5 L4s with direct COGS and working capital effects. Each process involves decision points: (1) In-Process Quality Checks &amp; Inspections — optimize sampling and pass/fail criteria; (2) Engine Dyno &amp; Hot Test Procedures — sequence and resource allocation for fastest cycle times; (3) Transmission Shift &amp; Functionality Testing — test sequencing and parallelization; (4) Non-Conforming Product Disposition &amp; Rework Authorization — accelerate or defer disposition with cost-aware routing; (5) Quality Data Collection &amp; Root Cause Analysis — feed deterministic optimization with structured data. Estimated values: In-Process QC: $12M COGS, Dyno/Hot Test: $9M COGS, Disposition &amp; Rework: $5M Working Capital impact via faster turnaround; Data-driven QA insights: ~$4M COGS. Combined raw value: $30M; applying a 0.8 synergy factor yields $24M. Bound at $30M cap; synergy yields final combined value of $24M. Lead is DET-based on constraint-driven optimization for pass/fail triggers, with AGENTIC elements to handle end-to-end decision loops and exception handling, and GENERATIVE inputs for root-cause hypotheses and documentation.</a:t>
                      </a:r>
                    </a:p>
                  </a:txBody>
                  <a:tcPr>
                    <a:solidFill>
                      <a:srgbClr val="FFFFFF"/>
                    </a:solidFill>
                  </a:tcPr>
                </a:tc>
              </a:tr>
              <a:tr h="347472">
                <a:tc>
                  <a:txBody>
                    <a:bodyPr/>
                    <a:lstStyle/>
                    <a:p>
                      <a:pPr>
                        <a:defRPr sz="900" b="1">
                          <a:solidFill>
                            <a:srgbClr val="003366"/>
                          </a:solidFill>
                          <a:latin typeface="Calibri"/>
                        </a:defRPr>
                      </a:pPr>
                      <a:r>
                        <a:t>Combined Max Value</a:t>
                      </a:r>
                    </a:p>
                  </a:txBody>
                  <a:tcPr>
                    <a:solidFill>
                      <a:srgbClr val="E3EAF5"/>
                    </a:solidFill>
                  </a:tcPr>
                </a:tc>
                <a:tc>
                  <a:txBody>
                    <a:bodyPr/>
                    <a:lstStyle/>
                    <a:p>
                      <a:pPr>
                        <a:defRPr sz="900">
                          <a:solidFill>
                            <a:srgbClr val="333333"/>
                          </a:solidFill>
                          <a:latin typeface="Calibri"/>
                        </a:defRPr>
                      </a:pPr>
                      <a:r>
                        <a:t>$42M</a:t>
                      </a:r>
                    </a:p>
                  </a:txBody>
                  <a:tcPr>
                    <a:solidFill>
                      <a:srgbClr val="FFFFFF"/>
                    </a:solidFill>
                  </a:tcPr>
                </a:tc>
              </a:tr>
              <a:tr h="347472">
                <a:tc>
                  <a:txBody>
                    <a:bodyPr/>
                    <a:lstStyle/>
                    <a:p>
                      <a:pPr>
                        <a:defRPr sz="900" b="1">
                          <a:solidFill>
                            <a:srgbClr val="003366"/>
                          </a:solidFill>
                          <a:latin typeface="Calibri"/>
                        </a:defRPr>
                      </a:pPr>
                      <a:r>
                        <a:t>Complexity</a:t>
                      </a:r>
                    </a:p>
                  </a:txBody>
                  <a:tcPr>
                    <a:solidFill>
                      <a:srgbClr val="E3EAF5"/>
                    </a:solidFill>
                  </a:tcPr>
                </a:tc>
                <a:tc>
                  <a:txBody>
                    <a:bodyPr/>
                    <a:lstStyle/>
                    <a:p>
                      <a:pPr>
                        <a:defRPr sz="900">
                          <a:solidFill>
                            <a:srgbClr val="333333"/>
                          </a:solidFill>
                          <a:latin typeface="Calibri"/>
                        </a:defRPr>
                      </a:pPr>
                      <a:r>
                        <a:t>HIGH</a:t>
                      </a:r>
                    </a:p>
                  </a:txBody>
                  <a:tcPr>
                    <a:solidFill>
                      <a:srgbClr val="FFFFFF"/>
                    </a:solidFill>
                  </a:tcPr>
                </a:tc>
              </a:tr>
              <a:tr h="347472">
                <a:tc>
                  <a:txBody>
                    <a:bodyPr/>
                    <a:lstStyle/>
                    <a:p>
                      <a:pPr>
                        <a:defRPr sz="900" b="1">
                          <a:solidFill>
                            <a:srgbClr val="003366"/>
                          </a:solidFill>
                          <a:latin typeface="Calibri"/>
                        </a:defRPr>
                      </a:pPr>
                      <a:r>
                        <a:t>Quick Win</a:t>
                      </a:r>
                    </a:p>
                  </a:txBody>
                  <a:tcPr>
                    <a:solidFill>
                      <a:srgbClr val="E3EAF5"/>
                    </a:solidFill>
                  </a:tcPr>
                </a:tc>
                <a:tc>
                  <a:txBody>
                    <a:bodyPr/>
                    <a:lstStyle/>
                    <a:p>
                      <a:pPr>
                        <a:defRPr sz="900">
                          <a:solidFill>
                            <a:srgbClr val="333333"/>
                          </a:solidFill>
                          <a:latin typeface="Calibri"/>
                        </a:defRPr>
                      </a:pPr>
                      <a:r>
                        <a:t>No</a:t>
                      </a:r>
                    </a:p>
                  </a:txBody>
                  <a:tcPr>
                    <a:solidFill>
                      <a:srgbClr val="FFFFFF"/>
                    </a:solidFill>
                  </a:tcPr>
                </a:tc>
              </a:tr>
              <a:tr h="347472">
                <a:tc>
                  <a:txBody>
                    <a:bodyPr/>
                    <a:lstStyle/>
                    <a:p>
                      <a:pPr>
                        <a:defRPr sz="900" b="1">
                          <a:solidFill>
                            <a:srgbClr val="003366"/>
                          </a:solidFill>
                          <a:latin typeface="Calibri"/>
                        </a:defRPr>
                      </a:pPr>
                      <a:r>
                        <a:t>L4 Activities</a:t>
                      </a:r>
                    </a:p>
                  </a:txBody>
                  <a:tcPr>
                    <a:solidFill>
                      <a:srgbClr val="E3EAF5"/>
                    </a:solidFill>
                  </a:tcPr>
                </a:tc>
                <a:tc>
                  <a:txBody>
                    <a:bodyPr/>
                    <a:lstStyle/>
                    <a:p>
                      <a:pPr>
                        <a:defRPr sz="900">
                          <a:solidFill>
                            <a:srgbClr val="333333"/>
                          </a:solidFill>
                          <a:latin typeface="Calibri"/>
                        </a:defRPr>
                      </a:pPr>
                      <a:r>
                        <a:t>5 total, 5 high-value</a:t>
                      </a:r>
                    </a:p>
                  </a:txBody>
                  <a:tcPr>
                    <a:solidFill>
                      <a:srgbClr val="FFFFFF"/>
                    </a:solidFill>
                  </a:tcPr>
                </a:tc>
              </a:tr>
              <a:tr h="347472">
                <a:tc>
                  <a:txBody>
                    <a:bodyPr/>
                    <a:lstStyle/>
                    <a:p>
                      <a:pPr>
                        <a:defRPr sz="900" b="1">
                          <a:solidFill>
                            <a:srgbClr val="003366"/>
                          </a:solidFill>
                          <a:latin typeface="Calibri"/>
                        </a:defRPr>
                      </a:pPr>
                      <a:r>
                        <a:t>Archetypes</a:t>
                      </a:r>
                    </a:p>
                  </a:txBody>
                  <a:tcPr>
                    <a:solidFill>
                      <a:srgbClr val="E3EAF5"/>
                    </a:solidFill>
                  </a:tcPr>
                </a:tc>
                <a:tc>
                  <a:txBody>
                    <a:bodyPr/>
                    <a:lstStyle/>
                    <a:p>
                      <a:pPr>
                        <a:defRPr sz="900">
                          <a:solidFill>
                            <a:srgbClr val="333333"/>
                          </a:solidFill>
                          <a:latin typeface="Calibri"/>
                        </a:defRPr>
                      </a:pPr>
                      <a:r>
                        <a:t>DETERMINISTIC + AGENTIC, GENERATIVE</a:t>
                      </a:r>
                    </a:p>
                  </a:txBody>
                  <a:tcPr>
                    <a:solidFill>
                      <a:srgbClr val="FFFFFF"/>
                    </a:solidFill>
                  </a:tcPr>
                </a:tc>
              </a:tr>
              <a:tr h="347472">
                <a:tc>
                  <a:txBody>
                    <a:bodyPr/>
                    <a:lstStyle/>
                    <a:p>
                      <a:pPr>
                        <a:defRPr sz="900" b="1">
                          <a:solidFill>
                            <a:srgbClr val="003366"/>
                          </a:solidFill>
                          <a:latin typeface="Calibri"/>
                        </a:defRPr>
                      </a:pPr>
                      <a:r>
                        <a:t>Aera Components</a:t>
                      </a:r>
                    </a:p>
                  </a:txBody>
                  <a:tcPr>
                    <a:solidFill>
                      <a:srgbClr val="E3EAF5"/>
                    </a:solidFill>
                  </a:tcPr>
                </a:tc>
                <a:tc>
                  <a:txBody>
                    <a:bodyPr/>
                    <a:lstStyle/>
                    <a:p>
                      <a:pPr>
                        <a:defRPr sz="900">
                          <a:solidFill>
                            <a:srgbClr val="333333"/>
                          </a:solidFill>
                          <a:latin typeface="Calibri"/>
                        </a:defRPr>
                      </a:pPr>
                      <a:r>
                        <a:t>Streams: 1  |  Cortex: 1  |  PB: 3  |  UI: 1</a:t>
                      </a:r>
                    </a:p>
                  </a:txBody>
                  <a:tcPr>
                    <a:solidFill>
                      <a:srgbClr val="FFFFFF"/>
                    </a:solidFill>
                  </a:tcPr>
                </a:tc>
              </a:tr>
            </a:tbl>
          </a:graphicData>
        </a:graphic>
      </p:graphicFrame>
      <p:sp>
        <p:nvSpPr>
          <p:cNvPr id="5" name="TextBox 4"/>
          <p:cNvSpPr txBox="1"/>
          <p:nvPr/>
        </p:nvSpPr>
        <p:spPr>
          <a:xfrm>
            <a:off x="6675120" y="841248"/>
            <a:ext cx="5029200" cy="201168"/>
          </a:xfrm>
          <a:prstGeom prst="rect">
            <a:avLst/>
          </a:prstGeom>
          <a:noFill/>
        </p:spPr>
        <p:txBody>
          <a:bodyPr wrap="square">
            <a:spAutoFit/>
          </a:bodyPr>
          <a:lstStyle/>
          <a:p>
            <a:pPr algn="l">
              <a:defRPr sz="1100" b="1">
                <a:solidFill>
                  <a:srgbClr val="003366"/>
                </a:solidFill>
                <a:latin typeface="Calibri"/>
              </a:defRPr>
            </a:pPr>
            <a:r>
              <a:t>Decision Flow</a:t>
            </a:r>
          </a:p>
        </p:txBody>
      </p:sp>
      <p:pic>
        <p:nvPicPr>
          <p:cNvPr id="6" name="Picture 5" descr="flow_10.png"/>
          <p:cNvPicPr>
            <a:picLocks noChangeAspect="1"/>
          </p:cNvPicPr>
          <p:nvPr/>
        </p:nvPicPr>
        <p:blipFill>
          <a:blip r:embed="rId2"/>
          <a:stretch>
            <a:fillRect/>
          </a:stretch>
        </p:blipFill>
        <p:spPr>
          <a:xfrm>
            <a:off x="6675120" y="1097280"/>
            <a:ext cx="5212080" cy="4754880"/>
          </a:xfrm>
          <a:prstGeom prst="rect">
            <a:avLst/>
          </a:prstGeom>
        </p:spPr>
      </p:pic>
      <p:graphicFrame>
        <p:nvGraphicFramePr>
          <p:cNvPr id="7" name="Table 6"/>
          <p:cNvGraphicFramePr>
            <a:graphicFrameLocks noGrp="1"/>
          </p:cNvGraphicFramePr>
          <p:nvPr/>
        </p:nvGraphicFramePr>
        <p:xfrm>
          <a:off x="274320" y="6263640"/>
          <a:ext cx="11429990" cy="502920"/>
        </p:xfrm>
        <a:graphic>
          <a:graphicData uri="http://schemas.openxmlformats.org/drawingml/2006/table">
            <a:tbl>
              <a:tblPr firstRow="1" bandRow="1">
                <a:tableStyleId>{5C22544A-7EE6-4342-B048-85BDC9FD1C3A}</a:tableStyleId>
              </a:tblPr>
              <a:tblGrid>
                <a:gridCol w="879230"/>
                <a:gridCol w="879230"/>
                <a:gridCol w="879230"/>
                <a:gridCol w="879230"/>
                <a:gridCol w="879230"/>
                <a:gridCol w="879230"/>
                <a:gridCol w="879230"/>
                <a:gridCol w="879230"/>
                <a:gridCol w="879230"/>
                <a:gridCol w="879230"/>
                <a:gridCol w="879230"/>
                <a:gridCol w="879230"/>
                <a:gridCol w="879230"/>
              </a:tblGrid>
              <a:tr h="251460">
                <a:tc>
                  <a:txBody>
                    <a:bodyPr/>
                    <a:lstStyle/>
                    <a:p>
                      <a:pPr algn="ctr">
                        <a:defRPr sz="700" b="1">
                          <a:solidFill>
                            <a:srgbClr val="FFFFFF"/>
                          </a:solidFill>
                        </a:defRPr>
                      </a:pPr>
                      <a:r>
                        <a:t>Tech</a:t>
                      </a:r>
                    </a:p>
                  </a:txBody>
                  <a:tcPr>
                    <a:solidFill>
                      <a:srgbClr val="90A4AE"/>
                    </a:solidFill>
                  </a:tcPr>
                </a:tc>
                <a:tc>
                  <a:txBody>
                    <a:bodyPr/>
                    <a:lstStyle/>
                    <a:p>
                      <a:pPr algn="ctr">
                        <a:defRPr sz="700" b="1">
                          <a:solidFill>
                            <a:srgbClr val="FFFFFF"/>
                          </a:solidFill>
                        </a:defRPr>
                      </a:pPr>
                      <a:r>
                        <a:t>Adopt</a:t>
                      </a:r>
                    </a:p>
                  </a:txBody>
                  <a:tcPr>
                    <a:solidFill>
                      <a:srgbClr val="90A4AE"/>
                    </a:solidFill>
                  </a:tcPr>
                </a:tc>
                <a:tc>
                  <a:txBody>
                    <a:bodyPr/>
                    <a:lstStyle/>
                    <a:p>
                      <a:pPr algn="ctr">
                        <a:defRPr sz="700" b="1">
                          <a:solidFill>
                            <a:srgbClr val="FFFFFF"/>
                          </a:solidFill>
                        </a:defRPr>
                      </a:pPr>
                      <a:r>
                        <a:t>Value</a:t>
                      </a:r>
                    </a:p>
                  </a:txBody>
                  <a:tcPr>
                    <a:solidFill>
                      <a:srgbClr val="90A4AE"/>
                    </a:solidFill>
                  </a:tcPr>
                </a:tc>
                <a:tc>
                  <a:txBody>
                    <a:bodyPr/>
                    <a:lstStyle/>
                    <a:p>
                      <a:pPr algn="ctr">
                        <a:defRPr sz="700" b="1">
                          <a:solidFill>
                            <a:srgbClr val="FFFFFF"/>
                          </a:solidFill>
                        </a:defRPr>
                      </a:pPr>
                      <a:r>
                        <a:t>Composite</a:t>
                      </a:r>
                    </a:p>
                  </a:txBody>
                  <a:tcPr>
                    <a:solidFill>
                      <a:srgbClr val="90A4AE"/>
                    </a:solidFill>
                  </a:tcPr>
                </a:tc>
                <a:tc>
                  <a:txBody>
                    <a:bodyPr/>
                    <a:lstStyle/>
                    <a:p>
                      <a:pPr algn="ctr">
                        <a:defRPr sz="700" b="1">
                          <a:solidFill>
                            <a:srgbClr val="FFFFFF"/>
                          </a:solidFill>
                        </a:defRPr>
                      </a:pPr>
                      <a:r>
                        <a:t>DR</a:t>
                      </a:r>
                    </a:p>
                  </a:txBody>
                  <a:tcPr>
                    <a:solidFill>
                      <a:srgbClr val="90A4AE"/>
                    </a:solidFill>
                  </a:tcPr>
                </a:tc>
                <a:tc>
                  <a:txBody>
                    <a:bodyPr/>
                    <a:lstStyle/>
                    <a:p>
                      <a:pPr algn="ctr">
                        <a:defRPr sz="700" b="1">
                          <a:solidFill>
                            <a:srgbClr val="FFFFFF"/>
                          </a:solidFill>
                        </a:defRPr>
                      </a:pPr>
                      <a:r>
                        <a:t>PF</a:t>
                      </a:r>
                    </a:p>
                  </a:txBody>
                  <a:tcPr>
                    <a:solidFill>
                      <a:srgbClr val="90A4AE"/>
                    </a:solidFill>
                  </a:tcPr>
                </a:tc>
                <a:tc>
                  <a:txBody>
                    <a:bodyPr/>
                    <a:lstStyle/>
                    <a:p>
                      <a:pPr algn="ctr">
                        <a:defRPr sz="700" b="1">
                          <a:solidFill>
                            <a:srgbClr val="FFFFFF"/>
                          </a:solidFill>
                        </a:defRPr>
                      </a:pPr>
                      <a:r>
                        <a:t>AC</a:t>
                      </a:r>
                    </a:p>
                  </a:txBody>
                  <a:tcPr>
                    <a:solidFill>
                      <a:srgbClr val="90A4AE"/>
                    </a:solidFill>
                  </a:tcPr>
                </a:tc>
                <a:tc>
                  <a:txBody>
                    <a:bodyPr/>
                    <a:lstStyle/>
                    <a:p>
                      <a:pPr algn="ctr">
                        <a:defRPr sz="700" b="1">
                          <a:solidFill>
                            <a:srgbClr val="FFFFFF"/>
                          </a:solidFill>
                        </a:defRPr>
                      </a:pPr>
                      <a:r>
                        <a:t>DD</a:t>
                      </a:r>
                    </a:p>
                  </a:txBody>
                  <a:tcPr>
                    <a:solidFill>
                      <a:srgbClr val="90A4AE"/>
                    </a:solidFill>
                  </a:tcPr>
                </a:tc>
                <a:tc>
                  <a:txBody>
                    <a:bodyPr/>
                    <a:lstStyle/>
                    <a:p>
                      <a:pPr algn="ctr">
                        <a:defRPr sz="700" b="1">
                          <a:solidFill>
                            <a:srgbClr val="FFFFFF"/>
                          </a:solidFill>
                        </a:defRPr>
                      </a:pPr>
                      <a:r>
                        <a:t>FG</a:t>
                      </a:r>
                    </a:p>
                  </a:txBody>
                  <a:tcPr>
                    <a:solidFill>
                      <a:srgbClr val="90A4AE"/>
                    </a:solidFill>
                  </a:tcPr>
                </a:tc>
                <a:tc>
                  <a:txBody>
                    <a:bodyPr/>
                    <a:lstStyle/>
                    <a:p>
                      <a:pPr algn="ctr">
                        <a:defRPr sz="700" b="1">
                          <a:solidFill>
                            <a:srgbClr val="FFFFFF"/>
                          </a:solidFill>
                        </a:defRPr>
                      </a:pPr>
                      <a:r>
                        <a:t>IP</a:t>
                      </a:r>
                    </a:p>
                  </a:txBody>
                  <a:tcPr>
                    <a:solidFill>
                      <a:srgbClr val="90A4AE"/>
                    </a:solidFill>
                  </a:tcPr>
                </a:tc>
                <a:tc>
                  <a:txBody>
                    <a:bodyPr/>
                    <a:lstStyle/>
                    <a:p>
                      <a:pPr algn="ctr">
                        <a:defRPr sz="700" b="1">
                          <a:solidFill>
                            <a:srgbClr val="FFFFFF"/>
                          </a:solidFill>
                        </a:defRPr>
                      </a:pPr>
                      <a:r>
                        <a:t>CS</a:t>
                      </a:r>
                    </a:p>
                  </a:txBody>
                  <a:tcPr>
                    <a:solidFill>
                      <a:srgbClr val="90A4AE"/>
                    </a:solidFill>
                  </a:tcPr>
                </a:tc>
                <a:tc>
                  <a:txBody>
                    <a:bodyPr/>
                    <a:lstStyle/>
                    <a:p>
                      <a:pPr algn="ctr">
                        <a:defRPr sz="700" b="1">
                          <a:solidFill>
                            <a:srgbClr val="FFFFFF"/>
                          </a:solidFill>
                        </a:defRPr>
                      </a:pPr>
                      <a:r>
                        <a:t>VD</a:t>
                      </a:r>
                    </a:p>
                  </a:txBody>
                  <a:tcPr>
                    <a:solidFill>
                      <a:srgbClr val="90A4AE"/>
                    </a:solidFill>
                  </a:tcPr>
                </a:tc>
                <a:tc>
                  <a:txBody>
                    <a:bodyPr/>
                    <a:lstStyle/>
                    <a:p>
                      <a:pPr algn="ctr">
                        <a:defRPr sz="700" b="1">
                          <a:solidFill>
                            <a:srgbClr val="FFFFFF"/>
                          </a:solidFill>
                        </a:defRPr>
                      </a:pPr>
                      <a:r>
                        <a:t>SV</a:t>
                      </a:r>
                    </a:p>
                  </a:txBody>
                  <a:tcPr>
                    <a:solidFill>
                      <a:srgbClr val="90A4AE"/>
                    </a:solidFill>
                  </a:tcPr>
                </a:tc>
              </a:tr>
              <a:tr h="251460">
                <a:tc>
                  <a:txBody>
                    <a:bodyPr/>
                    <a:lstStyle/>
                    <a:p>
                      <a:pPr algn="ctr">
                        <a:defRPr sz="800">
                          <a:solidFill>
                            <a:srgbClr val="333333"/>
                          </a:solidFill>
                        </a:defRPr>
                      </a:pPr>
                      <a:r>
                        <a:t>6/9</a:t>
                      </a:r>
                    </a:p>
                  </a:txBody>
                  <a:tcPr>
                    <a:solidFill>
                      <a:srgbClr val="ECEFF1"/>
                    </a:solidFill>
                  </a:tcPr>
                </a:tc>
                <a:tc>
                  <a:txBody>
                    <a:bodyPr/>
                    <a:lstStyle/>
                    <a:p>
                      <a:pPr algn="ctr">
                        <a:defRPr sz="800">
                          <a:solidFill>
                            <a:srgbClr val="333333"/>
                          </a:solidFill>
                        </a:defRPr>
                      </a:pPr>
                      <a:r>
                        <a:t>12/12</a:t>
                      </a:r>
                    </a:p>
                  </a:txBody>
                  <a:tcPr>
                    <a:solidFill>
                      <a:srgbClr val="ECEFF1"/>
                    </a:solidFill>
                  </a:tcPr>
                </a:tc>
                <a:tc>
                  <a:txBody>
                    <a:bodyPr/>
                    <a:lstStyle/>
                    <a:p>
                      <a:pPr algn="ctr">
                        <a:defRPr sz="800">
                          <a:solidFill>
                            <a:srgbClr val="333333"/>
                          </a:solidFill>
                        </a:defRPr>
                      </a:pPr>
                      <a:r>
                        <a:t>4/6</a:t>
                      </a:r>
                    </a:p>
                  </a:txBody>
                  <a:tcPr>
                    <a:solidFill>
                      <a:srgbClr val="ECEFF1"/>
                    </a:solidFill>
                  </a:tcPr>
                </a:tc>
                <a:tc>
                  <a:txBody>
                    <a:bodyPr/>
                    <a:lstStyle/>
                    <a:p>
                      <a:pPr algn="ctr">
                        <a:defRPr sz="800" b="1">
                          <a:solidFill>
                            <a:srgbClr val="003366"/>
                          </a:solidFill>
                        </a:defRPr>
                      </a:pPr>
                      <a:r>
                        <a:t>0.82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3</a:t>
                      </a:r>
                    </a:p>
                  </a:txBody>
                  <a:tcPr>
                    <a:solidFill>
                      <a:srgbClr val="ECEFF1"/>
                    </a:solidFill>
                  </a:tcPr>
                </a:tc>
                <a:tc>
                  <a:txBody>
                    <a:bodyPr/>
                    <a:lstStyle/>
                    <a:p>
                      <a:pPr algn="ctr">
                        <a:defRPr sz="800">
                          <a:solidFill>
                            <a:srgbClr val="333333"/>
                          </a:solidFill>
                        </a:defRPr>
                      </a:pPr>
                      <a:r>
                        <a:t>2</a:t>
                      </a:r>
                    </a:p>
                  </a:txBody>
                  <a:tcPr>
                    <a:solidFill>
                      <a:srgbClr val="ECEFF1"/>
                    </a:solidFill>
                  </a:tcPr>
                </a:tc>
                <a:tc>
                  <a:txBody>
                    <a:bodyPr/>
                    <a:lstStyle/>
                    <a:p>
                      <a:pPr algn="ctr">
                        <a:defRPr sz="800">
                          <a:solidFill>
                            <a:srgbClr val="333333"/>
                          </a:solidFill>
                        </a:defRPr>
                      </a:pPr>
                      <a:r>
                        <a:t>2</a:t>
                      </a:r>
                    </a:p>
                  </a:txBody>
                  <a:tcPr>
                    <a:solidFill>
                      <a:srgbClr val="ECEFF1"/>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defRPr sz="2400" b="1">
                <a:solidFill>
                  <a:srgbClr val="FFFFFF"/>
                </a:solidFill>
              </a:defRPr>
            </a:pPr>
            <a:r>
              <a:t>Recommended Next Steps</a:t>
            </a:r>
          </a:p>
        </p:txBody>
      </p:sp>
      <p:sp>
        <p:nvSpPr>
          <p:cNvPr id="3" name="TextBox 2"/>
          <p:cNvSpPr txBox="1"/>
          <p:nvPr/>
        </p:nvSpPr>
        <p:spPr>
          <a:xfrm>
            <a:off x="457200" y="822960"/>
            <a:ext cx="5943600" cy="5486400"/>
          </a:xfrm>
          <a:prstGeom prst="rect">
            <a:avLst/>
          </a:prstGeom>
          <a:noFill/>
        </p:spPr>
        <p:txBody>
          <a:bodyPr wrap="square">
            <a:spAutoFit/>
          </a:bodyPr>
          <a:lstStyle/>
          <a:p>
            <a:pPr>
              <a:spcAft>
                <a:spcPts val="200"/>
              </a:spcAft>
              <a:defRPr sz="1100">
                <a:solidFill>
                  <a:srgbClr val="333333"/>
                </a:solidFill>
                <a:latin typeface="Calibri"/>
              </a:defRPr>
            </a:pPr>
            <a:r>
              <a:t>Wave 1 -- Highest Confidence (0.88):</a:t>
            </a:r>
          </a:p>
          <a:p>
            <a:pPr>
              <a:spcAft>
                <a:spcPts val="200"/>
              </a:spcAft>
              <a:defRPr sz="1100">
                <a:solidFill>
                  <a:srgbClr val="333333"/>
                </a:solidFill>
                <a:latin typeface="Calibri"/>
              </a:defRPr>
            </a:pPr>
            <a:r>
              <a:t>   Demand Forecasting &amp; Analysis  (Plan)  $21M  HIGH</a:t>
            </a:r>
          </a:p>
          <a:p>
            <a:pPr>
              <a:spcAft>
                <a:spcPts val="200"/>
              </a:spcAft>
              <a:defRPr sz="1100">
                <a:solidFill>
                  <a:srgbClr val="333333"/>
                </a:solidFill>
                <a:latin typeface="Calibri"/>
              </a:defRPr>
            </a:pPr>
            <a:r>
              <a:t>   Warehouse &amp; Inventory Management  (Move &amp; Fulfill)  $14M  MEDIUM  [QUICK WIN]</a:t>
            </a:r>
          </a:p>
          <a:p>
            <a:pPr>
              <a:spcAft>
                <a:spcPts val="200"/>
              </a:spcAft>
              <a:defRPr sz="1100">
                <a:solidFill>
                  <a:srgbClr val="333333"/>
                </a:solidFill>
                <a:latin typeface="Calibri"/>
              </a:defRPr>
            </a:pPr>
            <a:r>
              <a:t>   Material Requirements Planning (MRP) Integration  (Plan)  HIGH</a:t>
            </a:r>
          </a:p>
          <a:p>
            <a:pPr>
              <a:spcAft>
                <a:spcPts val="200"/>
              </a:spcAft>
              <a:defRPr sz="1100">
                <a:solidFill>
                  <a:srgbClr val="333333"/>
                </a:solidFill>
                <a:latin typeface="Calibri"/>
              </a:defRPr>
            </a:pPr>
          </a:p>
          <a:p>
            <a:pPr>
              <a:spcAft>
                <a:spcPts val="200"/>
              </a:spcAft>
              <a:defRPr sz="1100">
                <a:solidFill>
                  <a:srgbClr val="333333"/>
                </a:solidFill>
                <a:latin typeface="Calibri"/>
              </a:defRPr>
            </a:pPr>
            <a:r>
              <a:t>Wave 2 -- Strong Candidates (0.84):</a:t>
            </a:r>
          </a:p>
          <a:p>
            <a:pPr>
              <a:spcAft>
                <a:spcPts val="200"/>
              </a:spcAft>
              <a:defRPr sz="1100">
                <a:solidFill>
                  <a:srgbClr val="333333"/>
                </a:solidFill>
                <a:latin typeface="Calibri"/>
              </a:defRPr>
            </a:pPr>
            <a:r>
              <a:t>   Multi-Echelon Inventory Optimization  (Plan)  $130M  HIGH</a:t>
            </a:r>
          </a:p>
          <a:p>
            <a:pPr>
              <a:spcAft>
                <a:spcPts val="200"/>
              </a:spcAft>
              <a:defRPr sz="1100">
                <a:solidFill>
                  <a:srgbClr val="333333"/>
                </a:solidFill>
                <a:latin typeface="Calibri"/>
              </a:defRPr>
            </a:pPr>
            <a:r>
              <a:t>   Production Planning &amp; Control  (Make)  $43M  HIGH</a:t>
            </a:r>
          </a:p>
          <a:p>
            <a:pPr>
              <a:spcAft>
                <a:spcPts val="200"/>
              </a:spcAft>
              <a:defRPr sz="1100">
                <a:solidFill>
                  <a:srgbClr val="333333"/>
                </a:solidFill>
                <a:latin typeface="Calibri"/>
              </a:defRPr>
            </a:pPr>
            <a:r>
              <a:t>   Inventory Positioning &amp; Optimization  (Move &amp; Fulfill)  $24M  HIGH</a:t>
            </a:r>
          </a:p>
          <a:p>
            <a:pPr>
              <a:spcAft>
                <a:spcPts val="200"/>
              </a:spcAft>
              <a:defRPr sz="1100">
                <a:solidFill>
                  <a:srgbClr val="333333"/>
                </a:solidFill>
                <a:latin typeface="Calibri"/>
              </a:defRPr>
            </a:pPr>
            <a:r>
              <a:t>   Inbound Receiving &amp; Putaway  (Move &amp; Fulfill)  $9M  MEDIUM  [QUICK WIN]</a:t>
            </a:r>
          </a:p>
          <a:p>
            <a:pPr>
              <a:spcAft>
                <a:spcPts val="200"/>
              </a:spcAft>
              <a:defRPr sz="1100">
                <a:solidFill>
                  <a:srgbClr val="333333"/>
                </a:solidFill>
                <a:latin typeface="Calibri"/>
              </a:defRPr>
            </a:pPr>
          </a:p>
          <a:p>
            <a:pPr>
              <a:spcAft>
                <a:spcPts val="200"/>
              </a:spcAft>
              <a:defRPr sz="1100">
                <a:solidFill>
                  <a:srgbClr val="333333"/>
                </a:solidFill>
                <a:latin typeface="Calibri"/>
              </a:defRPr>
            </a:pPr>
            <a:r>
              <a:t>Wave 3 -- Solid Foundation (0.82):</a:t>
            </a:r>
          </a:p>
          <a:p>
            <a:pPr>
              <a:spcAft>
                <a:spcPts val="200"/>
              </a:spcAft>
              <a:defRPr sz="1100">
                <a:solidFill>
                  <a:srgbClr val="333333"/>
                </a:solidFill>
                <a:latin typeface="Calibri"/>
              </a:defRPr>
            </a:pPr>
            <a:r>
              <a:t>   Cost &amp; Value Optimization Initiatives  (Procure Source &amp; Buy)  $1840M  HIGH</a:t>
            </a:r>
          </a:p>
          <a:p>
            <a:pPr>
              <a:spcAft>
                <a:spcPts val="200"/>
              </a:spcAft>
              <a:defRPr sz="1100">
                <a:solidFill>
                  <a:srgbClr val="333333"/>
                </a:solidFill>
                <a:latin typeface="Calibri"/>
              </a:defRPr>
            </a:pPr>
            <a:r>
              <a:t>   Production Schedule Execution &amp; Monitoring  (Plan)  $100M  HIGH</a:t>
            </a:r>
          </a:p>
          <a:p>
            <a:pPr>
              <a:spcAft>
                <a:spcPts val="200"/>
              </a:spcAft>
              <a:defRPr sz="1100">
                <a:solidFill>
                  <a:srgbClr val="333333"/>
                </a:solidFill>
                <a:latin typeface="Calibri"/>
              </a:defRPr>
            </a:pPr>
            <a:r>
              <a:t>   Quality Control &amp; Performance Testing  (Make)  $42M  HIGH</a:t>
            </a:r>
          </a:p>
        </p:txBody>
      </p:sp>
      <p:sp>
        <p:nvSpPr>
          <p:cNvPr id="4" name="TextBox 3"/>
          <p:cNvSpPr txBox="1"/>
          <p:nvPr/>
        </p:nvSpPr>
        <p:spPr>
          <a:xfrm>
            <a:off x="6583680" y="822960"/>
            <a:ext cx="5029200" cy="274320"/>
          </a:xfrm>
          <a:prstGeom prst="rect">
            <a:avLst/>
          </a:prstGeom>
          <a:noFill/>
        </p:spPr>
        <p:txBody>
          <a:bodyPr wrap="square">
            <a:spAutoFit/>
          </a:bodyPr>
          <a:lstStyle/>
          <a:p>
            <a:pPr algn="l">
              <a:defRPr sz="1600" b="1">
                <a:solidFill>
                  <a:srgbClr val="003366"/>
                </a:solidFill>
                <a:latin typeface="Calibri"/>
              </a:defRPr>
            </a:pPr>
            <a:r>
              <a:t>Domain Clusters</a:t>
            </a:r>
          </a:p>
        </p:txBody>
      </p:sp>
      <p:sp>
        <p:nvSpPr>
          <p:cNvPr id="5" name="TextBox 4"/>
          <p:cNvSpPr txBox="1"/>
          <p:nvPr/>
        </p:nvSpPr>
        <p:spPr>
          <a:xfrm>
            <a:off x="6583680" y="1188720"/>
            <a:ext cx="5029200" cy="4572000"/>
          </a:xfrm>
          <a:prstGeom prst="rect">
            <a:avLst/>
          </a:prstGeom>
          <a:noFill/>
        </p:spPr>
        <p:txBody>
          <a:bodyPr wrap="square">
            <a:spAutoFit/>
          </a:bodyPr>
          <a:lstStyle/>
          <a:p>
            <a:pPr>
              <a:spcAft>
                <a:spcPts val="200"/>
              </a:spcAft>
              <a:defRPr sz="1000">
                <a:solidFill>
                  <a:srgbClr val="333333"/>
                </a:solidFill>
                <a:latin typeface="Calibri"/>
              </a:defRPr>
            </a:pPr>
            <a:r>
              <a:t>Plan (4 opportunities):</a:t>
            </a:r>
          </a:p>
          <a:p>
            <a:pPr>
              <a:spcAft>
                <a:spcPts val="200"/>
              </a:spcAft>
              <a:defRPr sz="1000">
                <a:solidFill>
                  <a:srgbClr val="333333"/>
                </a:solidFill>
                <a:latin typeface="Calibri"/>
              </a:defRPr>
            </a:pPr>
            <a:r>
              <a:t>   Demand Forecasting &amp; Analysis</a:t>
            </a:r>
          </a:p>
          <a:p>
            <a:pPr>
              <a:spcAft>
                <a:spcPts val="200"/>
              </a:spcAft>
              <a:defRPr sz="1000">
                <a:solidFill>
                  <a:srgbClr val="333333"/>
                </a:solidFill>
                <a:latin typeface="Calibri"/>
              </a:defRPr>
            </a:pPr>
            <a:r>
              <a:t>   Material Requirements Planning (MRP) Integration</a:t>
            </a:r>
          </a:p>
          <a:p>
            <a:pPr>
              <a:spcAft>
                <a:spcPts val="200"/>
              </a:spcAft>
              <a:defRPr sz="1000">
                <a:solidFill>
                  <a:srgbClr val="333333"/>
                </a:solidFill>
                <a:latin typeface="Calibri"/>
              </a:defRPr>
            </a:pPr>
            <a:r>
              <a:t>   Multi-Echelon Inventory Optimization</a:t>
            </a:r>
          </a:p>
          <a:p>
            <a:pPr>
              <a:spcAft>
                <a:spcPts val="200"/>
              </a:spcAft>
              <a:defRPr sz="1000">
                <a:solidFill>
                  <a:srgbClr val="333333"/>
                </a:solidFill>
                <a:latin typeface="Calibri"/>
              </a:defRPr>
            </a:pPr>
            <a:r>
              <a:t>   Production Schedule Execution &amp; Monitoring</a:t>
            </a:r>
          </a:p>
          <a:p>
            <a:pPr>
              <a:spcAft>
                <a:spcPts val="200"/>
              </a:spcAft>
              <a:defRPr sz="1000">
                <a:solidFill>
                  <a:srgbClr val="333333"/>
                </a:solidFill>
                <a:latin typeface="Calibri"/>
              </a:defRPr>
            </a:pPr>
          </a:p>
          <a:p>
            <a:pPr>
              <a:spcAft>
                <a:spcPts val="200"/>
              </a:spcAft>
              <a:defRPr sz="1000">
                <a:solidFill>
                  <a:srgbClr val="333333"/>
                </a:solidFill>
                <a:latin typeface="Calibri"/>
              </a:defRPr>
            </a:pPr>
            <a:r>
              <a:t>Move &amp; Fulfill (3 opportunities):</a:t>
            </a:r>
          </a:p>
          <a:p>
            <a:pPr>
              <a:spcAft>
                <a:spcPts val="200"/>
              </a:spcAft>
              <a:defRPr sz="1000">
                <a:solidFill>
                  <a:srgbClr val="333333"/>
                </a:solidFill>
                <a:latin typeface="Calibri"/>
              </a:defRPr>
            </a:pPr>
            <a:r>
              <a:t>   Warehouse &amp; Inventory Management</a:t>
            </a:r>
          </a:p>
          <a:p>
            <a:pPr>
              <a:spcAft>
                <a:spcPts val="200"/>
              </a:spcAft>
              <a:defRPr sz="1000">
                <a:solidFill>
                  <a:srgbClr val="333333"/>
                </a:solidFill>
                <a:latin typeface="Calibri"/>
              </a:defRPr>
            </a:pPr>
            <a:r>
              <a:t>   Inventory Positioning &amp; Optimization</a:t>
            </a:r>
          </a:p>
          <a:p>
            <a:pPr>
              <a:spcAft>
                <a:spcPts val="200"/>
              </a:spcAft>
              <a:defRPr sz="1000">
                <a:solidFill>
                  <a:srgbClr val="333333"/>
                </a:solidFill>
                <a:latin typeface="Calibri"/>
              </a:defRPr>
            </a:pPr>
            <a:r>
              <a:t>   Inbound Receiving &amp; Putaway</a:t>
            </a:r>
          </a:p>
          <a:p>
            <a:pPr>
              <a:spcAft>
                <a:spcPts val="200"/>
              </a:spcAft>
              <a:defRPr sz="1000">
                <a:solidFill>
                  <a:srgbClr val="333333"/>
                </a:solidFill>
                <a:latin typeface="Calibri"/>
              </a:defRPr>
            </a:pPr>
          </a:p>
          <a:p>
            <a:pPr>
              <a:spcAft>
                <a:spcPts val="200"/>
              </a:spcAft>
              <a:defRPr sz="1000">
                <a:solidFill>
                  <a:srgbClr val="333333"/>
                </a:solidFill>
                <a:latin typeface="Calibri"/>
              </a:defRPr>
            </a:pPr>
            <a:r>
              <a:t>Make (2 opportunities):</a:t>
            </a:r>
          </a:p>
          <a:p>
            <a:pPr>
              <a:spcAft>
                <a:spcPts val="200"/>
              </a:spcAft>
              <a:defRPr sz="1000">
                <a:solidFill>
                  <a:srgbClr val="333333"/>
                </a:solidFill>
                <a:latin typeface="Calibri"/>
              </a:defRPr>
            </a:pPr>
            <a:r>
              <a:t>   Production Planning &amp; Control</a:t>
            </a:r>
          </a:p>
          <a:p>
            <a:pPr>
              <a:spcAft>
                <a:spcPts val="200"/>
              </a:spcAft>
              <a:defRPr sz="1000">
                <a:solidFill>
                  <a:srgbClr val="333333"/>
                </a:solidFill>
                <a:latin typeface="Calibri"/>
              </a:defRPr>
            </a:pPr>
            <a:r>
              <a:t>   Quality Control &amp; Performance Testing</a:t>
            </a:r>
          </a:p>
          <a:p>
            <a:pPr>
              <a:spcAft>
                <a:spcPts val="200"/>
              </a:spcAft>
              <a:defRPr sz="1000">
                <a:solidFill>
                  <a:srgbClr val="333333"/>
                </a:solidFill>
                <a:latin typeface="Calibri"/>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